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7707-3626-1B85-6FA9-85C1287D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76B4F-826A-44F5-F6E2-48FC9C68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0FD39-DC2F-0DBF-314E-D118DFDDF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FD060-F296-1B89-4CF0-0838A4F56A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4975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DF8B341-C8F0-4F9D-B7AB-6AD245D1D89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85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Báo cáo </a:t>
            </a:r>
          </a:p>
          <a:p>
            <a:pPr algn="l">
              <a:def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vi-VN"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Reproduce </a:t>
            </a:r>
            <a:r>
              <a: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Puppeteer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823F6C-DCB9-438F-963E-4EB6E8C38FD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Reproduce </a:t>
            </a:r>
            <a:r>
              <a:rPr lang="vi-VN" sz="2325">
                <a:solidFill>
                  <a:srgbClr val="3B3B37"/>
                </a:solidFill>
                <a:latin typeface="Aptos"/>
                <a:ea typeface="Aptos"/>
                <a:cs typeface="Aptos"/>
              </a:rPr>
              <a:t>puppeteer</a:t>
            </a:r>
            <a:r>
              <a:rPr sz="23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 và hướng cải thiện</a:t>
            </a:r>
          </a:p>
          <a:p>
            <a:pPr algn="l">
              <a:defRPr sz="23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Combinatorial Generalization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1CECC-5663-48B4-813D-FA5447BEE519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Dựa trên Dang et al. (2025) &amp; Mahajan et al. (2022)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103C25B-87F1-4A8F-97DA-EDD68B1CB4ED}"/>
              </a:ext>
            </a:extLst>
          </p:cNvPr>
          <p:cNvSpPr>
            <a:spLocks noGrp="1"/>
          </p:cNvSpPr>
          <p:nvPr/>
        </p:nvSpPr>
        <p:spPr>
          <a:xfrm>
            <a:off x="7239000" y="1143000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5CD81DA-586F-4427-BFA6-30A52C77FABE}"/>
              </a:ext>
            </a:extLst>
          </p:cNvPr>
          <p:cNvSpPr>
            <a:spLocks noGrp="1"/>
          </p:cNvSpPr>
          <p:nvPr/>
        </p:nvSpPr>
        <p:spPr>
          <a:xfrm>
            <a:off x="7239000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0398E11-F38B-4895-824A-D578A884E667}"/>
              </a:ext>
            </a:extLst>
          </p:cNvPr>
          <p:cNvSpPr>
            <a:spLocks noGrp="1"/>
          </p:cNvSpPr>
          <p:nvPr/>
        </p:nvSpPr>
        <p:spPr>
          <a:xfrm>
            <a:off x="7239000" y="1636776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8FDB2AE-BF9D-4BE6-B2D4-6BEFA12CEE74}"/>
              </a:ext>
            </a:extLst>
          </p:cNvPr>
          <p:cNvSpPr>
            <a:spLocks noGrp="1"/>
          </p:cNvSpPr>
          <p:nvPr/>
        </p:nvSpPr>
        <p:spPr>
          <a:xfrm>
            <a:off x="7732776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0FEDC94-3E9B-482D-83EA-5A9BC42E0E18}"/>
              </a:ext>
            </a:extLst>
          </p:cNvPr>
          <p:cNvSpPr>
            <a:spLocks noGrp="1"/>
          </p:cNvSpPr>
          <p:nvPr/>
        </p:nvSpPr>
        <p:spPr>
          <a:xfrm>
            <a:off x="7239000" y="2130552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EC36B1E-C192-4642-AC96-F46C90F4D7CE}"/>
              </a:ext>
            </a:extLst>
          </p:cNvPr>
          <p:cNvSpPr>
            <a:spLocks noGrp="1"/>
          </p:cNvSpPr>
          <p:nvPr/>
        </p:nvSpPr>
        <p:spPr>
          <a:xfrm>
            <a:off x="8226552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F417C59-E508-4947-A7FA-4FF169C93B01}"/>
              </a:ext>
            </a:extLst>
          </p:cNvPr>
          <p:cNvSpPr>
            <a:spLocks noGrp="1"/>
          </p:cNvSpPr>
          <p:nvPr/>
        </p:nvSpPr>
        <p:spPr>
          <a:xfrm>
            <a:off x="7239000" y="2624328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51D78E0-B2A1-4023-8B07-96FE4A6A381D}"/>
              </a:ext>
            </a:extLst>
          </p:cNvPr>
          <p:cNvSpPr>
            <a:spLocks noGrp="1"/>
          </p:cNvSpPr>
          <p:nvPr/>
        </p:nvSpPr>
        <p:spPr>
          <a:xfrm>
            <a:off x="8720328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052B765-33B8-4317-97E9-C3DF50C13AC8}"/>
              </a:ext>
            </a:extLst>
          </p:cNvPr>
          <p:cNvSpPr>
            <a:spLocks noGrp="1"/>
          </p:cNvSpPr>
          <p:nvPr/>
        </p:nvSpPr>
        <p:spPr>
          <a:xfrm>
            <a:off x="7239000" y="3118104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5ED80DE-255D-4764-AFDB-D1182D55C30B}"/>
              </a:ext>
            </a:extLst>
          </p:cNvPr>
          <p:cNvSpPr>
            <a:spLocks noGrp="1"/>
          </p:cNvSpPr>
          <p:nvPr/>
        </p:nvSpPr>
        <p:spPr>
          <a:xfrm>
            <a:off x="9214104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77D6195-BC47-4C89-9765-0A9EAA849295}"/>
              </a:ext>
            </a:extLst>
          </p:cNvPr>
          <p:cNvSpPr>
            <a:spLocks noGrp="1"/>
          </p:cNvSpPr>
          <p:nvPr/>
        </p:nvSpPr>
        <p:spPr>
          <a:xfrm>
            <a:off x="7239000" y="3611880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F76081E-3B24-4F83-AA14-DAF98DD02178}"/>
              </a:ext>
            </a:extLst>
          </p:cNvPr>
          <p:cNvSpPr>
            <a:spLocks noGrp="1"/>
          </p:cNvSpPr>
          <p:nvPr/>
        </p:nvSpPr>
        <p:spPr>
          <a:xfrm>
            <a:off x="9707880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B8F6526-3EB4-4C93-8AC7-C18290CE9298}"/>
              </a:ext>
            </a:extLst>
          </p:cNvPr>
          <p:cNvSpPr>
            <a:spLocks noGrp="1"/>
          </p:cNvSpPr>
          <p:nvPr/>
        </p:nvSpPr>
        <p:spPr>
          <a:xfrm>
            <a:off x="7239000" y="4105656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81AE3C7-F01B-4D67-8DF1-5FCCB849E538}"/>
              </a:ext>
            </a:extLst>
          </p:cNvPr>
          <p:cNvSpPr>
            <a:spLocks noGrp="1"/>
          </p:cNvSpPr>
          <p:nvPr/>
        </p:nvSpPr>
        <p:spPr>
          <a:xfrm>
            <a:off x="10201656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2C8CC13-C325-403B-B03E-12527512F6BD}"/>
              </a:ext>
            </a:extLst>
          </p:cNvPr>
          <p:cNvSpPr>
            <a:spLocks noGrp="1"/>
          </p:cNvSpPr>
          <p:nvPr/>
        </p:nvSpPr>
        <p:spPr>
          <a:xfrm>
            <a:off x="7239000" y="4599432"/>
            <a:ext cx="370332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463E43B-F925-413C-96A3-52B1016251F1}"/>
              </a:ext>
            </a:extLst>
          </p:cNvPr>
          <p:cNvSpPr>
            <a:spLocks noGrp="1"/>
          </p:cNvSpPr>
          <p:nvPr/>
        </p:nvSpPr>
        <p:spPr>
          <a:xfrm>
            <a:off x="10695432" y="1143000"/>
            <a:ext cx="0" cy="370332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0E51D2D-2841-482B-8FEB-0481E75C1851}"/>
              </a:ext>
            </a:extLst>
          </p:cNvPr>
          <p:cNvSpPr>
            <a:spLocks noGrp="1"/>
          </p:cNvSpPr>
          <p:nvPr/>
        </p:nvSpPr>
        <p:spPr>
          <a:xfrm>
            <a:off x="7547610" y="3560445"/>
            <a:ext cx="668655" cy="66865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33BED78-66AB-4090-AC4E-23C205F16EA1}"/>
              </a:ext>
            </a:extLst>
          </p:cNvPr>
          <p:cNvSpPr>
            <a:spLocks noGrp="1"/>
          </p:cNvSpPr>
          <p:nvPr/>
        </p:nvSpPr>
        <p:spPr>
          <a:xfrm>
            <a:off x="8216265" y="3560445"/>
            <a:ext cx="668655" cy="72009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01C6C91C-BDAB-4AF0-86E0-A74133F2FBDE}"/>
              </a:ext>
            </a:extLst>
          </p:cNvPr>
          <p:cNvSpPr>
            <a:spLocks noGrp="1"/>
          </p:cNvSpPr>
          <p:nvPr/>
        </p:nvSpPr>
        <p:spPr>
          <a:xfrm>
            <a:off x="8884920" y="3200400"/>
            <a:ext cx="565785" cy="108013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A1CB38F-4540-47CC-BD0C-C9BB72CE486C}"/>
              </a:ext>
            </a:extLst>
          </p:cNvPr>
          <p:cNvSpPr>
            <a:spLocks noGrp="1"/>
          </p:cNvSpPr>
          <p:nvPr/>
        </p:nvSpPr>
        <p:spPr>
          <a:xfrm>
            <a:off x="9450705" y="3200400"/>
            <a:ext cx="720090" cy="51435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EDDD3CA-6919-4527-B448-51C3705BAE86}"/>
              </a:ext>
            </a:extLst>
          </p:cNvPr>
          <p:cNvSpPr>
            <a:spLocks noGrp="1"/>
          </p:cNvSpPr>
          <p:nvPr/>
        </p:nvSpPr>
        <p:spPr>
          <a:xfrm>
            <a:off x="10170795" y="2480310"/>
            <a:ext cx="565785" cy="123444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89386D6-337D-4199-9435-4A3F9E45C957}"/>
              </a:ext>
            </a:extLst>
          </p:cNvPr>
          <p:cNvSpPr>
            <a:spLocks noGrp="1"/>
          </p:cNvSpPr>
          <p:nvPr/>
        </p:nvSpPr>
        <p:spPr>
          <a:xfrm>
            <a:off x="8216265" y="3200400"/>
            <a:ext cx="1234440" cy="36004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E8C7205-1C6C-417E-8030-B5A0313D5B18}"/>
              </a:ext>
            </a:extLst>
          </p:cNvPr>
          <p:cNvSpPr>
            <a:spLocks noGrp="1"/>
          </p:cNvSpPr>
          <p:nvPr/>
        </p:nvSpPr>
        <p:spPr>
          <a:xfrm>
            <a:off x="9450705" y="2480310"/>
            <a:ext cx="1285875" cy="72009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2FA16FD-F255-4DD0-A03F-BC1DE6DE92DA}"/>
              </a:ext>
            </a:extLst>
          </p:cNvPr>
          <p:cNvSpPr>
            <a:spLocks noGrp="1"/>
          </p:cNvSpPr>
          <p:nvPr/>
        </p:nvSpPr>
        <p:spPr>
          <a:xfrm>
            <a:off x="9193530" y="2274570"/>
            <a:ext cx="257175" cy="92583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3FD97E9F-F40F-4560-8D91-AC5D52C2C2FD}"/>
              </a:ext>
            </a:extLst>
          </p:cNvPr>
          <p:cNvSpPr>
            <a:spLocks noGrp="1"/>
          </p:cNvSpPr>
          <p:nvPr/>
        </p:nvSpPr>
        <p:spPr>
          <a:xfrm>
            <a:off x="8370570" y="2531745"/>
            <a:ext cx="1080135" cy="66865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D7F0544-E395-49CA-918C-3CBD24F7F4EF}"/>
              </a:ext>
            </a:extLst>
          </p:cNvPr>
          <p:cNvSpPr>
            <a:spLocks noGrp="1"/>
          </p:cNvSpPr>
          <p:nvPr/>
        </p:nvSpPr>
        <p:spPr>
          <a:xfrm>
            <a:off x="8370570" y="2274570"/>
            <a:ext cx="822960" cy="25717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6438EB3B-B0D0-4E3F-94AD-E104CCC8157E}"/>
              </a:ext>
            </a:extLst>
          </p:cNvPr>
          <p:cNvSpPr>
            <a:spLocks noGrp="1"/>
          </p:cNvSpPr>
          <p:nvPr/>
        </p:nvSpPr>
        <p:spPr>
          <a:xfrm>
            <a:off x="8884920" y="2274570"/>
            <a:ext cx="308610" cy="200596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8806A4F1-9716-4E62-B78B-2F6279F43F32}"/>
              </a:ext>
            </a:extLst>
          </p:cNvPr>
          <p:cNvSpPr>
            <a:spLocks noGrp="1"/>
          </p:cNvSpPr>
          <p:nvPr/>
        </p:nvSpPr>
        <p:spPr>
          <a:xfrm>
            <a:off x="7547610" y="3200400"/>
            <a:ext cx="1903095" cy="102870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C09389-A576-4F4D-8716-B62E87BE6A6F}"/>
              </a:ext>
            </a:extLst>
          </p:cNvPr>
          <p:cNvSpPr>
            <a:spLocks noGrp="1"/>
          </p:cNvSpPr>
          <p:nvPr/>
        </p:nvSpPr>
        <p:spPr>
          <a:xfrm>
            <a:off x="7485888" y="4167378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241220A-AA95-40A8-94A3-59F96478830E}"/>
              </a:ext>
            </a:extLst>
          </p:cNvPr>
          <p:cNvSpPr>
            <a:spLocks noGrp="1"/>
          </p:cNvSpPr>
          <p:nvPr/>
        </p:nvSpPr>
        <p:spPr>
          <a:xfrm>
            <a:off x="8154543" y="3498723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86C880E-0C05-4FAA-828C-42C16D09ABA1}"/>
              </a:ext>
            </a:extLst>
          </p:cNvPr>
          <p:cNvSpPr>
            <a:spLocks noGrp="1"/>
          </p:cNvSpPr>
          <p:nvPr/>
        </p:nvSpPr>
        <p:spPr>
          <a:xfrm>
            <a:off x="8823198" y="4218813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1EA7652-A54F-44D2-937C-CB9868280E13}"/>
              </a:ext>
            </a:extLst>
          </p:cNvPr>
          <p:cNvSpPr>
            <a:spLocks noGrp="1"/>
          </p:cNvSpPr>
          <p:nvPr/>
        </p:nvSpPr>
        <p:spPr>
          <a:xfrm>
            <a:off x="9388983" y="3138678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C3823C-2732-424E-9DAD-AC2B8432EB7D}"/>
              </a:ext>
            </a:extLst>
          </p:cNvPr>
          <p:cNvSpPr>
            <a:spLocks noGrp="1"/>
          </p:cNvSpPr>
          <p:nvPr/>
        </p:nvSpPr>
        <p:spPr>
          <a:xfrm>
            <a:off x="10109073" y="3653028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10168AA-7F92-4B40-85D9-792282FF8AF3}"/>
              </a:ext>
            </a:extLst>
          </p:cNvPr>
          <p:cNvSpPr>
            <a:spLocks noGrp="1"/>
          </p:cNvSpPr>
          <p:nvPr/>
        </p:nvSpPr>
        <p:spPr>
          <a:xfrm>
            <a:off x="10674858" y="2418588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F94E3A3-1A4E-498E-BDA4-35C4F5D3ECA1}"/>
              </a:ext>
            </a:extLst>
          </p:cNvPr>
          <p:cNvSpPr>
            <a:spLocks noGrp="1"/>
          </p:cNvSpPr>
          <p:nvPr/>
        </p:nvSpPr>
        <p:spPr>
          <a:xfrm>
            <a:off x="9131808" y="2212848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3D113B-5AFD-4840-B834-95179A470E98}"/>
              </a:ext>
            </a:extLst>
          </p:cNvPr>
          <p:cNvSpPr>
            <a:spLocks noGrp="1"/>
          </p:cNvSpPr>
          <p:nvPr/>
        </p:nvSpPr>
        <p:spPr>
          <a:xfrm>
            <a:off x="8308848" y="2470023"/>
            <a:ext cx="123444" cy="123444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9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D86DFF0E-FEFC-4352-85A6-01EFF5774783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Pipeline đã chạy được, nhưng mới ở quy mô nhỏ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28C978-24FB-4428-9A0A-D2608CBD208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Mục tiêu hiện tại: xác nhận reproduce loop trước khi mở rộng bằng A100.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4E963F-9F2A-43AF-826A-908A5D7275A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8095E-FC61-4FC2-849F-396BC7BA91D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49A2C-5CDD-4BA7-BDE6-13724368657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000250" cy="1219200"/>
          </a:xfrm>
          <a:prstGeom prst="roundRect">
            <a:avLst>
              <a:gd name="adj" fmla="val 9375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B64E6-FC89-4A65-9AC5-46EAF1698F69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DF86D-6FD0-4584-8782-81A0DEEC7EB7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sample GSM-Hard đã train thử nghiệm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4A0802-B4FA-4A68-A8AD-79C5FAD7B606}"/>
              </a:ext>
            </a:extLst>
          </p:cNvPr>
          <p:cNvSpPr>
            <a:spLocks noGrp="1"/>
          </p:cNvSpPr>
          <p:nvPr/>
        </p:nvSpPr>
        <p:spPr>
          <a:xfrm>
            <a:off x="3162300" y="1809750"/>
            <a:ext cx="2000250" cy="1219200"/>
          </a:xfrm>
          <a:prstGeom prst="roundRect">
            <a:avLst>
              <a:gd name="adj" fmla="val 9375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E4AD3-A141-44DE-AC00-C90F309876ED}"/>
              </a:ext>
            </a:extLst>
          </p:cNvPr>
          <p:cNvSpPr>
            <a:spLocks noGrp="1"/>
          </p:cNvSpPr>
          <p:nvPr/>
        </p:nvSpPr>
        <p:spPr>
          <a:xfrm>
            <a:off x="3333750" y="198120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F87292-AD4A-4B74-966E-99C7301D7246}"/>
              </a:ext>
            </a:extLst>
          </p:cNvPr>
          <p:cNvSpPr>
            <a:spLocks noGrp="1"/>
          </p:cNvSpPr>
          <p:nvPr/>
        </p:nvSpPr>
        <p:spPr>
          <a:xfrm>
            <a:off x="3333750" y="2495550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sample đã test lại trên checkpoint vừa train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42568A-BD0A-45F8-9CEB-D7E1C728A7CF}"/>
              </a:ext>
            </a:extLst>
          </p:cNvPr>
          <p:cNvSpPr>
            <a:spLocks noGrp="1"/>
          </p:cNvSpPr>
          <p:nvPr/>
        </p:nvSpPr>
        <p:spPr>
          <a:xfrm>
            <a:off x="5505450" y="1809750"/>
            <a:ext cx="2000250" cy="1219200"/>
          </a:xfrm>
          <a:prstGeom prst="roundRect">
            <a:avLst>
              <a:gd name="adj" fmla="val 9375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3CF22A-DCD7-4DDB-B748-AE865B1FF04A}"/>
              </a:ext>
            </a:extLst>
          </p:cNvPr>
          <p:cNvSpPr>
            <a:spLocks noGrp="1"/>
          </p:cNvSpPr>
          <p:nvPr/>
        </p:nvSpPr>
        <p:spPr>
          <a:xfrm>
            <a:off x="5676900" y="198120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D6833D-14A0-406D-A1F0-928FD8E3BAB8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accuracy tăng trên tập train/test nội bộ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C05886-10D7-4D68-A40C-DE664F3FFE04}"/>
              </a:ext>
            </a:extLst>
          </p:cNvPr>
          <p:cNvSpPr>
            <a:spLocks noGrp="1"/>
          </p:cNvSpPr>
          <p:nvPr/>
        </p:nvSpPr>
        <p:spPr>
          <a:xfrm>
            <a:off x="1143000" y="3810000"/>
            <a:ext cx="76200" cy="76200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2B1D3-85DD-4D05-B611-EAE6E07D4372}"/>
              </a:ext>
            </a:extLst>
          </p:cNvPr>
          <p:cNvSpPr>
            <a:spLocks noGrp="1"/>
          </p:cNvSpPr>
          <p:nvPr/>
        </p:nvSpPr>
        <p:spPr>
          <a:xfrm>
            <a:off x="1333500" y="37338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Training loop, logging, checkpoint và embedding-based state representation đã hoạt động.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A639C7-A36B-4F85-A1F6-040E86DC7F3A}"/>
              </a:ext>
            </a:extLst>
          </p:cNvPr>
          <p:cNvSpPr>
            <a:spLocks noGrp="1"/>
          </p:cNvSpPr>
          <p:nvPr/>
        </p:nvSpPr>
        <p:spPr>
          <a:xfrm>
            <a:off x="1143000" y="4305300"/>
            <a:ext cx="76200" cy="76200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4018DB-BB4B-4883-8AAB-098535760D3C}"/>
              </a:ext>
            </a:extLst>
          </p:cNvPr>
          <p:cNvSpPr>
            <a:spLocks noGrp="1"/>
          </p:cNvSpPr>
          <p:nvPr/>
        </p:nvSpPr>
        <p:spPr>
          <a:xfrm>
            <a:off x="1333500" y="42291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Token cost chưa được thống kê đầy đủ, nên kết luận hiện tại mới là tín hiệu ban đầu.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22C3870-648C-46CE-B35E-C17052566F35}"/>
              </a:ext>
            </a:extLst>
          </p:cNvPr>
          <p:cNvSpPr>
            <a:spLocks noGrp="1"/>
          </p:cNvSpPr>
          <p:nvPr/>
        </p:nvSpPr>
        <p:spPr>
          <a:xfrm>
            <a:off x="1143000" y="4800600"/>
            <a:ext cx="76200" cy="76200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913026-C654-4ED7-8BBF-B0D8A037622D}"/>
              </a:ext>
            </a:extLst>
          </p:cNvPr>
          <p:cNvSpPr>
            <a:spLocks noGrp="1"/>
          </p:cNvSpPr>
          <p:nvPr/>
        </p:nvSpPr>
        <p:spPr>
          <a:xfrm>
            <a:off x="1333500" y="47244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Bước kế tiếp là reproduce trên nhiều sample hơn và kiểm tra cost/agent-count.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EB752AE-501E-45BB-8A1B-D8808E22C7F8}"/>
              </a:ext>
            </a:extLst>
          </p:cNvPr>
          <p:cNvSpPr>
            <a:spLocks noGrp="1"/>
          </p:cNvSpPr>
          <p:nvPr/>
        </p:nvSpPr>
        <p:spPr>
          <a:xfrm>
            <a:off x="9858375" y="3771900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148A55A-E299-43B6-89FF-96DB8B6C650B}"/>
              </a:ext>
            </a:extLst>
          </p:cNvPr>
          <p:cNvSpPr>
            <a:spLocks noGrp="1"/>
          </p:cNvSpPr>
          <p:nvPr/>
        </p:nvSpPr>
        <p:spPr>
          <a:xfrm>
            <a:off x="9858375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C1F0B71-7465-4A30-AE6B-F9BE1E576887}"/>
              </a:ext>
            </a:extLst>
          </p:cNvPr>
          <p:cNvSpPr>
            <a:spLocks noGrp="1"/>
          </p:cNvSpPr>
          <p:nvPr/>
        </p:nvSpPr>
        <p:spPr>
          <a:xfrm>
            <a:off x="9858375" y="3963924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B746238-3602-4E4B-A7D7-F574EC821799}"/>
              </a:ext>
            </a:extLst>
          </p:cNvPr>
          <p:cNvSpPr>
            <a:spLocks noGrp="1"/>
          </p:cNvSpPr>
          <p:nvPr/>
        </p:nvSpPr>
        <p:spPr>
          <a:xfrm>
            <a:off x="10050399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04159E5-75DD-40EA-AD7D-0F033397B39F}"/>
              </a:ext>
            </a:extLst>
          </p:cNvPr>
          <p:cNvSpPr>
            <a:spLocks noGrp="1"/>
          </p:cNvSpPr>
          <p:nvPr/>
        </p:nvSpPr>
        <p:spPr>
          <a:xfrm>
            <a:off x="9858375" y="4155948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9E24173-82FB-461F-89AC-A48CA374D404}"/>
              </a:ext>
            </a:extLst>
          </p:cNvPr>
          <p:cNvSpPr>
            <a:spLocks noGrp="1"/>
          </p:cNvSpPr>
          <p:nvPr/>
        </p:nvSpPr>
        <p:spPr>
          <a:xfrm>
            <a:off x="10242423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EDAFCD4C-4EE8-4A35-8CF8-808FA85B0F29}"/>
              </a:ext>
            </a:extLst>
          </p:cNvPr>
          <p:cNvSpPr>
            <a:spLocks noGrp="1"/>
          </p:cNvSpPr>
          <p:nvPr/>
        </p:nvSpPr>
        <p:spPr>
          <a:xfrm>
            <a:off x="9858375" y="4347972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4E3153A1-F01B-4D70-9A61-D266D7354F16}"/>
              </a:ext>
            </a:extLst>
          </p:cNvPr>
          <p:cNvSpPr>
            <a:spLocks noGrp="1"/>
          </p:cNvSpPr>
          <p:nvPr/>
        </p:nvSpPr>
        <p:spPr>
          <a:xfrm>
            <a:off x="10434447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7499ABF-71F2-4824-8915-88DC78EB4711}"/>
              </a:ext>
            </a:extLst>
          </p:cNvPr>
          <p:cNvSpPr>
            <a:spLocks noGrp="1"/>
          </p:cNvSpPr>
          <p:nvPr/>
        </p:nvSpPr>
        <p:spPr>
          <a:xfrm>
            <a:off x="9858375" y="4539996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FEEDF1A9-DA6F-4217-99F7-30B8CEBF03C0}"/>
              </a:ext>
            </a:extLst>
          </p:cNvPr>
          <p:cNvSpPr>
            <a:spLocks noGrp="1"/>
          </p:cNvSpPr>
          <p:nvPr/>
        </p:nvSpPr>
        <p:spPr>
          <a:xfrm>
            <a:off x="10626471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F71428B1-0FC9-4B01-957B-F9BDA95FDF77}"/>
              </a:ext>
            </a:extLst>
          </p:cNvPr>
          <p:cNvSpPr>
            <a:spLocks noGrp="1"/>
          </p:cNvSpPr>
          <p:nvPr/>
        </p:nvSpPr>
        <p:spPr>
          <a:xfrm>
            <a:off x="9858375" y="4732020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D02BCBF3-60FB-40F2-9735-DB1457F92D8C}"/>
              </a:ext>
            </a:extLst>
          </p:cNvPr>
          <p:cNvSpPr>
            <a:spLocks noGrp="1"/>
          </p:cNvSpPr>
          <p:nvPr/>
        </p:nvSpPr>
        <p:spPr>
          <a:xfrm>
            <a:off x="10818495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CD14A824-4AE3-4353-9DDA-7F849FC37BA9}"/>
              </a:ext>
            </a:extLst>
          </p:cNvPr>
          <p:cNvSpPr>
            <a:spLocks noGrp="1"/>
          </p:cNvSpPr>
          <p:nvPr/>
        </p:nvSpPr>
        <p:spPr>
          <a:xfrm>
            <a:off x="9858375" y="4924044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4F2881B4-F066-41EB-9376-CBB0449DB4CB}"/>
              </a:ext>
            </a:extLst>
          </p:cNvPr>
          <p:cNvSpPr>
            <a:spLocks noGrp="1"/>
          </p:cNvSpPr>
          <p:nvPr/>
        </p:nvSpPr>
        <p:spPr>
          <a:xfrm>
            <a:off x="11010519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6A5286DC-CFE3-4ECB-877A-A2791BD754B7}"/>
              </a:ext>
            </a:extLst>
          </p:cNvPr>
          <p:cNvSpPr>
            <a:spLocks noGrp="1"/>
          </p:cNvSpPr>
          <p:nvPr/>
        </p:nvSpPr>
        <p:spPr>
          <a:xfrm>
            <a:off x="9858375" y="5116068"/>
            <a:ext cx="144018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BE7BA85B-42BB-4D08-BAF3-94C3119FC808}"/>
              </a:ext>
            </a:extLst>
          </p:cNvPr>
          <p:cNvSpPr>
            <a:spLocks noGrp="1"/>
          </p:cNvSpPr>
          <p:nvPr/>
        </p:nvSpPr>
        <p:spPr>
          <a:xfrm>
            <a:off x="11202543" y="3771900"/>
            <a:ext cx="0" cy="144018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3EC0B09B-C512-4454-9A62-162379DED78B}"/>
              </a:ext>
            </a:extLst>
          </p:cNvPr>
          <p:cNvSpPr>
            <a:spLocks noGrp="1"/>
          </p:cNvSpPr>
          <p:nvPr/>
        </p:nvSpPr>
        <p:spPr>
          <a:xfrm>
            <a:off x="9978390" y="4712018"/>
            <a:ext cx="260033" cy="26003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3AF1EEE4-C4D4-4A7D-A003-678282DF6715}"/>
              </a:ext>
            </a:extLst>
          </p:cNvPr>
          <p:cNvSpPr>
            <a:spLocks noGrp="1"/>
          </p:cNvSpPr>
          <p:nvPr/>
        </p:nvSpPr>
        <p:spPr>
          <a:xfrm>
            <a:off x="10238423" y="4712018"/>
            <a:ext cx="260032" cy="28003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5A53F820-A8D7-424E-98C3-A0937D7E6FD3}"/>
              </a:ext>
            </a:extLst>
          </p:cNvPr>
          <p:cNvSpPr>
            <a:spLocks noGrp="1"/>
          </p:cNvSpPr>
          <p:nvPr/>
        </p:nvSpPr>
        <p:spPr>
          <a:xfrm>
            <a:off x="10498455" y="4572000"/>
            <a:ext cx="220027" cy="42005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BC022E53-DF4B-4735-AF78-21E8583FDA19}"/>
              </a:ext>
            </a:extLst>
          </p:cNvPr>
          <p:cNvSpPr>
            <a:spLocks noGrp="1"/>
          </p:cNvSpPr>
          <p:nvPr/>
        </p:nvSpPr>
        <p:spPr>
          <a:xfrm>
            <a:off x="10718483" y="4572000"/>
            <a:ext cx="280035" cy="20002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DB2749EC-BB73-4706-BAC4-90F9FBFE30BA}"/>
              </a:ext>
            </a:extLst>
          </p:cNvPr>
          <p:cNvSpPr>
            <a:spLocks noGrp="1"/>
          </p:cNvSpPr>
          <p:nvPr/>
        </p:nvSpPr>
        <p:spPr>
          <a:xfrm>
            <a:off x="10998518" y="4291965"/>
            <a:ext cx="220027" cy="48006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08720DBB-338A-4B49-87FB-64AF06DFAA93}"/>
              </a:ext>
            </a:extLst>
          </p:cNvPr>
          <p:cNvSpPr>
            <a:spLocks noGrp="1"/>
          </p:cNvSpPr>
          <p:nvPr/>
        </p:nvSpPr>
        <p:spPr>
          <a:xfrm>
            <a:off x="10238423" y="4572000"/>
            <a:ext cx="480060" cy="140017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2D0E6AC9-43EA-4FB0-8A6A-D3184CA4EBF8}"/>
              </a:ext>
            </a:extLst>
          </p:cNvPr>
          <p:cNvSpPr>
            <a:spLocks noGrp="1"/>
          </p:cNvSpPr>
          <p:nvPr/>
        </p:nvSpPr>
        <p:spPr>
          <a:xfrm>
            <a:off x="10718483" y="4291965"/>
            <a:ext cx="500063" cy="28003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88A9DB51-3081-42A6-80D7-34E3FA6F080D}"/>
              </a:ext>
            </a:extLst>
          </p:cNvPr>
          <p:cNvSpPr>
            <a:spLocks noGrp="1"/>
          </p:cNvSpPr>
          <p:nvPr/>
        </p:nvSpPr>
        <p:spPr>
          <a:xfrm>
            <a:off x="10618470" y="4211955"/>
            <a:ext cx="100013" cy="36004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3E805F83-0659-48E5-89B4-081B728D39DF}"/>
              </a:ext>
            </a:extLst>
          </p:cNvPr>
          <p:cNvSpPr>
            <a:spLocks noGrp="1"/>
          </p:cNvSpPr>
          <p:nvPr/>
        </p:nvSpPr>
        <p:spPr>
          <a:xfrm>
            <a:off x="10298430" y="4311968"/>
            <a:ext cx="420052" cy="26003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80125491-2C8B-4F06-836B-479D0FC73E71}"/>
              </a:ext>
            </a:extLst>
          </p:cNvPr>
          <p:cNvSpPr>
            <a:spLocks noGrp="1"/>
          </p:cNvSpPr>
          <p:nvPr/>
        </p:nvSpPr>
        <p:spPr>
          <a:xfrm>
            <a:off x="10298430" y="4211955"/>
            <a:ext cx="320040" cy="10001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709B4CD1-FE39-4065-8113-EDB5EEB6A4DC}"/>
              </a:ext>
            </a:extLst>
          </p:cNvPr>
          <p:cNvSpPr>
            <a:spLocks noGrp="1"/>
          </p:cNvSpPr>
          <p:nvPr/>
        </p:nvSpPr>
        <p:spPr>
          <a:xfrm>
            <a:off x="10498455" y="4211955"/>
            <a:ext cx="120015" cy="780098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38B3DD60-7089-4EE7-95A6-1D056F2449CC}"/>
              </a:ext>
            </a:extLst>
          </p:cNvPr>
          <p:cNvSpPr>
            <a:spLocks noGrp="1"/>
          </p:cNvSpPr>
          <p:nvPr/>
        </p:nvSpPr>
        <p:spPr>
          <a:xfrm>
            <a:off x="9978390" y="4572000"/>
            <a:ext cx="740093" cy="40005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71B3D1-AF2B-41EB-89B3-B4D8DA5AE479}"/>
              </a:ext>
            </a:extLst>
          </p:cNvPr>
          <p:cNvSpPr>
            <a:spLocks noGrp="1"/>
          </p:cNvSpPr>
          <p:nvPr/>
        </p:nvSpPr>
        <p:spPr>
          <a:xfrm>
            <a:off x="9954387" y="4948047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9126B7F-3BAB-4793-A92B-B208E596D94D}"/>
              </a:ext>
            </a:extLst>
          </p:cNvPr>
          <p:cNvSpPr>
            <a:spLocks noGrp="1"/>
          </p:cNvSpPr>
          <p:nvPr/>
        </p:nvSpPr>
        <p:spPr>
          <a:xfrm>
            <a:off x="10214420" y="4688015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319D3C6-0B8D-4530-9D1A-EAD1E42F2D0E}"/>
              </a:ext>
            </a:extLst>
          </p:cNvPr>
          <p:cNvSpPr>
            <a:spLocks noGrp="1"/>
          </p:cNvSpPr>
          <p:nvPr/>
        </p:nvSpPr>
        <p:spPr>
          <a:xfrm>
            <a:off x="10474452" y="4968050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0A3AD8-AD24-42D0-800D-843CBF77E364}"/>
              </a:ext>
            </a:extLst>
          </p:cNvPr>
          <p:cNvSpPr>
            <a:spLocks noGrp="1"/>
          </p:cNvSpPr>
          <p:nvPr/>
        </p:nvSpPr>
        <p:spPr>
          <a:xfrm>
            <a:off x="10694480" y="4547997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D2D6B6-0C32-4EB1-ABF5-4CB7CD79772B}"/>
              </a:ext>
            </a:extLst>
          </p:cNvPr>
          <p:cNvSpPr>
            <a:spLocks noGrp="1"/>
          </p:cNvSpPr>
          <p:nvPr/>
        </p:nvSpPr>
        <p:spPr>
          <a:xfrm>
            <a:off x="10974515" y="4748022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849C69B-7172-4686-8F8C-C7C9A4DD9FC6}"/>
              </a:ext>
            </a:extLst>
          </p:cNvPr>
          <p:cNvSpPr>
            <a:spLocks noGrp="1"/>
          </p:cNvSpPr>
          <p:nvPr/>
        </p:nvSpPr>
        <p:spPr>
          <a:xfrm>
            <a:off x="11194542" y="4267962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1946C0A-4768-482C-AB58-E732E5EABC9A}"/>
              </a:ext>
            </a:extLst>
          </p:cNvPr>
          <p:cNvSpPr>
            <a:spLocks noGrp="1"/>
          </p:cNvSpPr>
          <p:nvPr/>
        </p:nvSpPr>
        <p:spPr>
          <a:xfrm>
            <a:off x="10594467" y="4187952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461DCC5-30B9-43D0-964F-976DC0DCD0F3}"/>
              </a:ext>
            </a:extLst>
          </p:cNvPr>
          <p:cNvSpPr>
            <a:spLocks noGrp="1"/>
          </p:cNvSpPr>
          <p:nvPr/>
        </p:nvSpPr>
        <p:spPr>
          <a:xfrm>
            <a:off x="10274427" y="4287965"/>
            <a:ext cx="48006" cy="48006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15E9EE-0E41-447A-8596-32FDFEC7A992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8591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vi-VN" sz="2625" b="1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Khác biệt giữ bản reproduce hiện tại với paper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98F2F4-6FAC-440A-9ED0-DE8DCAF94EB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endParaRPr sz="1350" b="0" i="0">
              <a:solidFill>
                <a:srgbClr val="6E6A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8AFC3-F37F-4058-ADBD-E599C538FF6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6E888-052B-404D-9295-10E27B4FC18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3725773234"/>
              </p:ext>
            </p:extLst>
          </p:nvPr>
        </p:nvGraphicFramePr>
        <p:xfrm>
          <a:off x="2164080" y="1619250"/>
          <a:ext cx="7863840" cy="3424239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Thành phần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Paper gốc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Thiết lập hiện tại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State / reward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nvidia/Llama-3.1-Nemotron-70B-Reward-HF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Skywork/Skywork-Reward-V2-Llama-3.1-8B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Agent pool và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Mimas/Titan theo paper</a:t>
                      </a:r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 gồm 14 agent và 6 LLM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Custom agent pool gồm 14 agent và 4 LLM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Benchmark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GSM-Hard</a:t>
                      </a:r>
                      <a:endParaRPr lang="vi-VN" sz="1600">
                        <a:solidFill>
                          <a:srgbClr val="3B3B37"/>
                        </a:solidFill>
                      </a:endParaRPr>
                    </a:p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MMLU-Pro</a:t>
                      </a:r>
                      <a:endParaRPr lang="vi-VN" sz="1600">
                        <a:solidFill>
                          <a:srgbClr val="3B3B37"/>
                        </a:solidFill>
                      </a:endParaRPr>
                    </a:p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SRDD</a:t>
                      </a:r>
                      <a:endParaRPr lang="vi-VN" sz="1600">
                        <a:solidFill>
                          <a:srgbClr val="3B3B37"/>
                        </a:solidFill>
                      </a:endParaRPr>
                    </a:p>
                    <a:p>
                      <a:r>
                        <a:rPr lang="en-US" sz="1600">
                          <a:solidFill>
                            <a:srgbClr val="3B3B37"/>
                          </a:solidFill>
                        </a:rPr>
                        <a:t>CommonGen-Hard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38 sample GSM-Hard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52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FF859-7C89-4E8E-43BB-C22FD7AF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2000AE-8E27-1C81-849F-E6B8F782C9AC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8591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vi-VN"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Khác biệt giữ bản reproduce hiện tại với paper</a:t>
            </a:r>
            <a:endParaRPr sz="2625" b="1" i="0">
              <a:solidFill>
                <a:srgbClr val="3B3B3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DE78B-99F8-0C79-D90C-009F85EF89D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endParaRPr sz="1350" b="0" i="0">
              <a:solidFill>
                <a:srgbClr val="6E6A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5DC51-4F7C-9CA8-175A-CD2A0C1A8F7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1676CB-DE69-AF79-91DC-C4454027835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AC0A21-89DD-B30B-9263-118D70D402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282581"/>
              </p:ext>
            </p:extLst>
          </p:nvPr>
        </p:nvGraphicFramePr>
        <p:xfrm>
          <a:off x="2418207" y="1124522"/>
          <a:ext cx="7355586" cy="5334000"/>
        </p:xfrm>
        <a:graphic>
          <a:graphicData uri="http://schemas.openxmlformats.org/drawingml/2006/table">
            <a:tbl>
              <a:tblPr firstRow="1" bandRow="1"/>
              <a:tblGrid>
                <a:gridCol w="2223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A63"/>
                          </a:solidFill>
                        </a:rPr>
                        <a:t>Role / reasoning</a:t>
                      </a:r>
                    </a:p>
                    <a:p>
                      <a:r>
                        <a:rPr sz="1800" b="1">
                          <a:solidFill>
                            <a:srgbClr val="172A63"/>
                          </a:solidFill>
                        </a:rPr>
                        <a:t>pattern</a:t>
                      </a:r>
                    </a:p>
                  </a:txBody>
                  <a:tcPr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A63"/>
                          </a:solidFill>
                        </a:rPr>
                        <a:t>LLM Mimas</a:t>
                      </a:r>
                    </a:p>
                    <a:p>
                      <a:r>
                        <a:rPr sz="1800" b="1">
                          <a:solidFill>
                            <a:srgbClr val="172A63"/>
                          </a:solidFill>
                        </a:rPr>
                        <a:t>(paper gốc)</a:t>
                      </a:r>
                    </a:p>
                  </a:txBody>
                  <a:tcPr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A63"/>
                          </a:solidFill>
                        </a:rPr>
                        <a:t>LLM hiện tại</a:t>
                      </a:r>
                    </a:p>
                  </a:txBody>
                  <a:tcPr>
                    <a:solidFill>
                      <a:srgbClr val="EFE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FileAgent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qwen-2.5-7b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ArxivAgent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BingAgent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WebsiteAgent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llama-3.2-3b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PythonAgent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mistralai/ministral-3b-2512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mistralai/ministral-3b-2513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PlannerAgent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ReasoningAgent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CriticAgent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ReflectAgent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QuestionAgent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llama-3.2-3b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SummarizerAgent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qwen-2.5-7b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ConcluderAgent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mistralai/ministral-3b-2512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mistralai/ministral-3b-2513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ModifierAgent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TerminatorAgent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1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8ABC51-640E-4F48-8F5F-17E90974E79B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178034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Kết quả</a:t>
            </a:r>
            <a:r>
              <a:rPr lang="vi-VN"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 reproduce</a:t>
            </a:r>
            <a:endParaRPr sz="2625" b="1" i="0">
              <a:solidFill>
                <a:srgbClr val="3B3B3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8C4F2-D012-498E-A3F3-39EE89F8626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8CB15C-09BF-4AB3-9293-9C104B6CC01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3791319593"/>
              </p:ext>
            </p:extLst>
          </p:nvPr>
        </p:nvGraphicFramePr>
        <p:xfrm>
          <a:off x="552450" y="1524000"/>
          <a:ext cx="11087101" cy="2789465"/>
        </p:xfrm>
        <a:graphic>
          <a:graphicData uri="http://schemas.openxmlformats.org/drawingml/2006/table">
            <a:tbl>
              <a:tblPr firstRow="1" bandRow="1"/>
              <a:tblGrid>
                <a:gridCol w="297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0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Setting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Policy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#Train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#Eval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Avg token cost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Paper - Puppeteer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Init.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0.5600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Paper - Puppeteer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Evolved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0.5400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Reproduce hiện tại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Init.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Reproduce hiện tại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A06914A-5108-4BEB-B7AC-58B72FFC195B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endParaRPr sz="1500" b="0" i="0">
              <a:solidFill>
                <a:srgbClr val="6E6A6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2843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CA279F-4566-4C02-BD3B-7ADFB742C801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Ba điểm yếu hiện tại </a:t>
            </a:r>
            <a:r>
              <a:rPr lang="vi-VN" sz="2625" b="1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của Puppeteer</a:t>
            </a:r>
            <a:endParaRPr sz="2625" b="1" i="0">
              <a:solidFill>
                <a:srgbClr val="3B3B3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6ED20E-BC42-4C27-9FFC-6924AB19A2A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51827-345B-4D13-9C8C-72E6C26010F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8592" b="12495"/>
          <a:stretch>
            <a:fillRect/>
          </a:stretch>
        </p:blipFill>
        <p:spPr>
          <a:xfrm>
            <a:off x="1036944" y="1183386"/>
            <a:ext cx="10118113" cy="4491228"/>
          </a:xfrm>
          <a:prstGeom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99768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A5DAD2-DC89-4E51-9A58-599AE44C5978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Hướng cải thiện: bỏ phụ thuộc vào fixed agent slots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C8EC2-6FD2-41A6-9CEF-94A5A9B1212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Mục tiêu là giữ tinh thần </a:t>
            </a:r>
            <a:r>
              <a:rPr lang="vi-VN"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dynamic ochestration của </a:t>
            </a: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nhưng làm policy thích nghi với agent pool thay đổi.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165633-1E0D-4958-AA3F-C41DDBF4E45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9220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lang="en-US" sz="900">
                <a:solidFill>
                  <a:srgbClr val="6E6A63"/>
                </a:solidFill>
                <a:latin typeface="Aptos"/>
                <a:ea typeface="Aptos"/>
                <a:cs typeface="Aptos"/>
              </a:rPr>
              <a:t>EvoGuard: An Extensible Agentic RL-based Framework for Practical andEvolving AI-Generated Image Detection</a:t>
            </a:r>
            <a:endParaRPr sz="900" b="0" i="0">
              <a:solidFill>
                <a:srgbClr val="6E6A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27C764-63B0-462E-82F9-23106FD382E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293788249"/>
              </p:ext>
            </p:extLst>
          </p:nvPr>
        </p:nvGraphicFramePr>
        <p:xfrm>
          <a:off x="552450" y="1543050"/>
          <a:ext cx="11087101" cy="3223260"/>
        </p:xfrm>
        <a:graphic>
          <a:graphicData uri="http://schemas.openxmlformats.org/drawingml/2006/table">
            <a:tbl>
              <a:tblPr firstRow="1" bandRow="1"/>
              <a:tblGrid>
                <a:gridCol w="2497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3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6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Hướng cải thiện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Ý tưởng kỹ thuật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A63"/>
                          </a:solidFill>
                        </a:rPr>
                        <a:t>Kỳ vọng đánh giá</a:t>
                      </a:r>
                    </a:p>
                  </a:txBody>
                  <a:tcPr anchor="ctr">
                    <a:solidFill>
                      <a:srgbClr val="EFE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Capability-aware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Xây dựng hồ sơ năng lực cho agent, ochestrator sẽ dựa vào state và hồ sơ năng lực để chọn agent phù hợp</a:t>
                      </a:r>
                    </a:p>
                    <a:p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Thay MLP bằng một mạng neuron khác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Thêm/xóa/thay agent</a:t>
                      </a:r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 hoặc shuffle agent pool mà không ảnh hưởng đến performance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Early-stop / answer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Verifier cho answer hợp lệ trước khi gọi agent tiếp</a:t>
                      </a:r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 theo</a:t>
                      </a:r>
                      <a:endParaRPr sz="1600">
                        <a:solidFill>
                          <a:srgbClr val="3B3B3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Giảm token cost và số step/path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MAS-aware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Prompt</a:t>
                      </a:r>
                      <a:r>
                        <a:rPr lang="vi-VN" sz="1600">
                          <a:solidFill>
                            <a:srgbClr val="3B3B37"/>
                          </a:solidFill>
                        </a:rPr>
                        <a:t> cho agent biết về</a:t>
                      </a:r>
                      <a:r>
                        <a:rPr sz="1600">
                          <a:solidFill>
                            <a:srgbClr val="3B3B37"/>
                          </a:solidFill>
                        </a:rPr>
                        <a:t> agent pool, ranh giới role và output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B3B37"/>
                          </a:solidFill>
                        </a:rPr>
                        <a:t>Tăng specialization, giảm duplicated 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D93A450-90D8-4298-9CD5-BBA426584266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endParaRPr sz="1650" b="1" i="0">
              <a:solidFill>
                <a:srgbClr val="172A63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87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B25288A-8D3A-472F-A0EE-60C77B48F030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88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Bước tiếp theo nên chuyển từ accuracy sang generalization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7D2383-8C2B-407A-8C17-93D5A02D578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Khoảng trống: benchmark CG hiện chủ yếu dùng game; reasoning benchmark kiểu Dang et al.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CF6BA7-3242-4C34-BE14-7D4514C651C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30374-03AE-4273-A052-9430575C63B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23B9BD-EE41-4B18-95E7-533E7FE7667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09F378-0475-4970-8D0D-5807BD0B5E08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Seen composition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83D826-EC35-496C-93A6-7CC061A8125A}"/>
              </a:ext>
            </a:extLst>
          </p:cNvPr>
          <p:cNvSpPr>
            <a:spLocks noGrp="1"/>
          </p:cNvSpPr>
          <p:nvPr/>
        </p:nvSpPr>
        <p:spPr>
          <a:xfrm>
            <a:off x="990600" y="25908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So sánh với baseline Puppeteer trên agent pool cố định.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271F8D-3ABB-4897-ACB4-15475351DF8A}"/>
              </a:ext>
            </a:extLst>
          </p:cNvPr>
          <p:cNvSpPr>
            <a:spLocks noGrp="1"/>
          </p:cNvSpPr>
          <p:nvPr/>
        </p:nvSpPr>
        <p:spPr>
          <a:xfrm>
            <a:off x="3505200" y="1809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573CA7-BC84-4502-8B71-7F8F5E88F259}"/>
              </a:ext>
            </a:extLst>
          </p:cNvPr>
          <p:cNvSpPr>
            <a:spLocks noGrp="1"/>
          </p:cNvSpPr>
          <p:nvPr/>
        </p:nvSpPr>
        <p:spPr>
          <a:xfrm>
            <a:off x="3714750" y="20193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Shuffle personas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27D86-880B-4259-A82D-AC422A32E2A9}"/>
              </a:ext>
            </a:extLst>
          </p:cNvPr>
          <p:cNvSpPr>
            <a:spLocks noGrp="1"/>
          </p:cNvSpPr>
          <p:nvPr/>
        </p:nvSpPr>
        <p:spPr>
          <a:xfrm>
            <a:off x="3714750" y="25908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Kiểm tra policy có phụ thuộc thứ tự index không.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9D6201-D28B-4DEC-A239-F6F51E3E6F34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42A05-4FCB-4B9F-BC3D-088F1A6DEA60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Leave-one-agent-out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EDF0D8-3D0B-44AE-B0C9-5AB0A15B3CE1}"/>
              </a:ext>
            </a:extLst>
          </p:cNvPr>
          <p:cNvSpPr>
            <a:spLocks noGrp="1"/>
          </p:cNvSpPr>
          <p:nvPr/>
        </p:nvSpPr>
        <p:spPr>
          <a:xfrm>
            <a:off x="6438900" y="25908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Train thiếu một role/model, test khi thêm lại.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D06379-B51F-4E54-A59F-843591D9A9FC}"/>
              </a:ext>
            </a:extLst>
          </p:cNvPr>
          <p:cNvSpPr>
            <a:spLocks noGrp="1"/>
          </p:cNvSpPr>
          <p:nvPr/>
        </p:nvSpPr>
        <p:spPr>
          <a:xfrm>
            <a:off x="8953500" y="1809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DF6"/>
          </a:solidFill>
          <a:ln w="11430">
            <a:solidFill>
              <a:srgbClr val="C8B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72D436-1D94-47F6-8C73-7DDE7990E452}"/>
              </a:ext>
            </a:extLst>
          </p:cNvPr>
          <p:cNvSpPr>
            <a:spLocks noGrp="1"/>
          </p:cNvSpPr>
          <p:nvPr/>
        </p:nvSpPr>
        <p:spPr>
          <a:xfrm>
            <a:off x="9163050" y="20193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Add / substitute agent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66E290-0E94-49FD-88C0-79D84B62DF83}"/>
              </a:ext>
            </a:extLst>
          </p:cNvPr>
          <p:cNvSpPr>
            <a:spLocks noGrp="1"/>
          </p:cNvSpPr>
          <p:nvPr/>
        </p:nvSpPr>
        <p:spPr>
          <a:xfrm>
            <a:off x="9163050" y="25908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Thêm model mới hoặc thay LLM của một role.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641F97-858D-4FC9-9A83-5D6F107EC966}"/>
              </a:ext>
            </a:extLst>
          </p:cNvPr>
          <p:cNvSpPr>
            <a:spLocks noGrp="1"/>
          </p:cNvSpPr>
          <p:nvPr/>
        </p:nvSpPr>
        <p:spPr>
          <a:xfrm>
            <a:off x="1047750" y="42672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Metrics cần báo cáo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ADF8CF-C7A7-426F-A94D-1BE958CFE55B}"/>
              </a:ext>
            </a:extLst>
          </p:cNvPr>
          <p:cNvSpPr>
            <a:spLocks noGrp="1"/>
          </p:cNvSpPr>
          <p:nvPr/>
        </p:nvSpPr>
        <p:spPr>
          <a:xfrm>
            <a:off x="1190625" y="4857750"/>
            <a:ext cx="76200" cy="76200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11ADC6-F900-48A2-9980-B71A7B92360C}"/>
              </a:ext>
            </a:extLst>
          </p:cNvPr>
          <p:cNvSpPr>
            <a:spLocks noGrp="1"/>
          </p:cNvSpPr>
          <p:nvPr/>
        </p:nvSpPr>
        <p:spPr>
          <a:xfrm>
            <a:off x="1381125" y="478155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Accuracy và generalization gap giữa seen vs. unseen composition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04CDB3-0BE1-424B-AF8A-9D02C3B6450E}"/>
              </a:ext>
            </a:extLst>
          </p:cNvPr>
          <p:cNvSpPr>
            <a:spLocks noGrp="1"/>
          </p:cNvSpPr>
          <p:nvPr/>
        </p:nvSpPr>
        <p:spPr>
          <a:xfrm>
            <a:off x="1190625" y="5353050"/>
            <a:ext cx="76200" cy="76200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D94C8C-CE32-4532-ACBB-6AA9A2EBD0AD}"/>
              </a:ext>
            </a:extLst>
          </p:cNvPr>
          <p:cNvSpPr>
            <a:spLocks noGrp="1"/>
          </p:cNvSpPr>
          <p:nvPr/>
        </p:nvSpPr>
        <p:spPr>
          <a:xfrm>
            <a:off x="1381125" y="527685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Avg token cost, số step/path, số agent trung bình và early-stop rate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6DA827C-AEC7-4155-8EB9-4D7F738E00DA}"/>
              </a:ext>
            </a:extLst>
          </p:cNvPr>
          <p:cNvSpPr>
            <a:spLocks noGrp="1"/>
          </p:cNvSpPr>
          <p:nvPr/>
        </p:nvSpPr>
        <p:spPr>
          <a:xfrm>
            <a:off x="9096375" y="417195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6145B98-63CF-49E7-8D92-95A27A5205C9}"/>
              </a:ext>
            </a:extLst>
          </p:cNvPr>
          <p:cNvSpPr>
            <a:spLocks noGrp="1"/>
          </p:cNvSpPr>
          <p:nvPr/>
        </p:nvSpPr>
        <p:spPr>
          <a:xfrm>
            <a:off x="909637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4B19A05-6808-4940-B1F1-242B7AA43041}"/>
              </a:ext>
            </a:extLst>
          </p:cNvPr>
          <p:cNvSpPr>
            <a:spLocks noGrp="1"/>
          </p:cNvSpPr>
          <p:nvPr/>
        </p:nvSpPr>
        <p:spPr>
          <a:xfrm>
            <a:off x="9096375" y="437769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B806AD5-DA24-4A3A-ABEB-917E06E2C281}"/>
              </a:ext>
            </a:extLst>
          </p:cNvPr>
          <p:cNvSpPr>
            <a:spLocks noGrp="1"/>
          </p:cNvSpPr>
          <p:nvPr/>
        </p:nvSpPr>
        <p:spPr>
          <a:xfrm>
            <a:off x="930211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06EC704-3277-4FFC-BFD5-2535FF1151B1}"/>
              </a:ext>
            </a:extLst>
          </p:cNvPr>
          <p:cNvSpPr>
            <a:spLocks noGrp="1"/>
          </p:cNvSpPr>
          <p:nvPr/>
        </p:nvSpPr>
        <p:spPr>
          <a:xfrm>
            <a:off x="9096375" y="458343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C3C4501B-EBF2-43F9-A443-1A74FE350665}"/>
              </a:ext>
            </a:extLst>
          </p:cNvPr>
          <p:cNvSpPr>
            <a:spLocks noGrp="1"/>
          </p:cNvSpPr>
          <p:nvPr/>
        </p:nvSpPr>
        <p:spPr>
          <a:xfrm>
            <a:off x="950785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472B0305-B251-40D0-835F-06524D0E8149}"/>
              </a:ext>
            </a:extLst>
          </p:cNvPr>
          <p:cNvSpPr>
            <a:spLocks noGrp="1"/>
          </p:cNvSpPr>
          <p:nvPr/>
        </p:nvSpPr>
        <p:spPr>
          <a:xfrm>
            <a:off x="9096375" y="478917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7F219765-F378-4216-955F-CF7773DA3838}"/>
              </a:ext>
            </a:extLst>
          </p:cNvPr>
          <p:cNvSpPr>
            <a:spLocks noGrp="1"/>
          </p:cNvSpPr>
          <p:nvPr/>
        </p:nvSpPr>
        <p:spPr>
          <a:xfrm>
            <a:off x="971359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019F8A48-73D9-435F-B57B-7BD66C2F4F94}"/>
              </a:ext>
            </a:extLst>
          </p:cNvPr>
          <p:cNvSpPr>
            <a:spLocks noGrp="1"/>
          </p:cNvSpPr>
          <p:nvPr/>
        </p:nvSpPr>
        <p:spPr>
          <a:xfrm>
            <a:off x="9096375" y="499491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414BAB60-E71B-4384-909B-0252C92F1996}"/>
              </a:ext>
            </a:extLst>
          </p:cNvPr>
          <p:cNvSpPr>
            <a:spLocks noGrp="1"/>
          </p:cNvSpPr>
          <p:nvPr/>
        </p:nvSpPr>
        <p:spPr>
          <a:xfrm>
            <a:off x="991933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76CCF405-7A72-4F75-A563-3E4CBB212CEA}"/>
              </a:ext>
            </a:extLst>
          </p:cNvPr>
          <p:cNvSpPr>
            <a:spLocks noGrp="1"/>
          </p:cNvSpPr>
          <p:nvPr/>
        </p:nvSpPr>
        <p:spPr>
          <a:xfrm>
            <a:off x="9096375" y="520065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13DCB6FA-4990-4FD5-87A6-2121410E1680}"/>
              </a:ext>
            </a:extLst>
          </p:cNvPr>
          <p:cNvSpPr>
            <a:spLocks noGrp="1"/>
          </p:cNvSpPr>
          <p:nvPr/>
        </p:nvSpPr>
        <p:spPr>
          <a:xfrm>
            <a:off x="1012507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8482DE2F-AAC3-48F7-A67F-164CBE20CDA4}"/>
              </a:ext>
            </a:extLst>
          </p:cNvPr>
          <p:cNvSpPr>
            <a:spLocks noGrp="1"/>
          </p:cNvSpPr>
          <p:nvPr/>
        </p:nvSpPr>
        <p:spPr>
          <a:xfrm>
            <a:off x="9096375" y="540639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CB2116B3-47B7-499C-AEA8-6AD63C97589A}"/>
              </a:ext>
            </a:extLst>
          </p:cNvPr>
          <p:cNvSpPr>
            <a:spLocks noGrp="1"/>
          </p:cNvSpPr>
          <p:nvPr/>
        </p:nvSpPr>
        <p:spPr>
          <a:xfrm>
            <a:off x="1033081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86137388-8BF9-4FD5-A061-CF47E2695474}"/>
              </a:ext>
            </a:extLst>
          </p:cNvPr>
          <p:cNvSpPr>
            <a:spLocks noGrp="1"/>
          </p:cNvSpPr>
          <p:nvPr/>
        </p:nvSpPr>
        <p:spPr>
          <a:xfrm>
            <a:off x="9096375" y="5612130"/>
            <a:ext cx="1543050" cy="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64EAC915-D7F8-4123-8658-75883F80D60C}"/>
              </a:ext>
            </a:extLst>
          </p:cNvPr>
          <p:cNvSpPr>
            <a:spLocks noGrp="1"/>
          </p:cNvSpPr>
          <p:nvPr/>
        </p:nvSpPr>
        <p:spPr>
          <a:xfrm>
            <a:off x="10536555" y="4171950"/>
            <a:ext cx="0" cy="1543050"/>
          </a:xfrm>
          <a:prstGeom prst="line">
            <a:avLst/>
          </a:prstGeom>
          <a:noFill/>
          <a:ln w="11430">
            <a:solidFill>
              <a:srgbClr val="7D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A0CEA906-7B9B-45CA-B39E-7E5713173ACF}"/>
              </a:ext>
            </a:extLst>
          </p:cNvPr>
          <p:cNvSpPr>
            <a:spLocks noGrp="1"/>
          </p:cNvSpPr>
          <p:nvPr/>
        </p:nvSpPr>
        <p:spPr>
          <a:xfrm>
            <a:off x="9224963" y="5179219"/>
            <a:ext cx="278606" cy="278606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A9D5C1E0-3231-4789-858F-4EAD9F60D766}"/>
              </a:ext>
            </a:extLst>
          </p:cNvPr>
          <p:cNvSpPr>
            <a:spLocks noGrp="1"/>
          </p:cNvSpPr>
          <p:nvPr/>
        </p:nvSpPr>
        <p:spPr>
          <a:xfrm>
            <a:off x="9503569" y="5179219"/>
            <a:ext cx="278606" cy="300038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C06460AD-3922-4C82-B4D8-844217E2394E}"/>
              </a:ext>
            </a:extLst>
          </p:cNvPr>
          <p:cNvSpPr>
            <a:spLocks noGrp="1"/>
          </p:cNvSpPr>
          <p:nvPr/>
        </p:nvSpPr>
        <p:spPr>
          <a:xfrm>
            <a:off x="9782175" y="5029200"/>
            <a:ext cx="235744" cy="450056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92684C16-BBA9-46B5-858E-5E84CC5B26F9}"/>
              </a:ext>
            </a:extLst>
          </p:cNvPr>
          <p:cNvSpPr>
            <a:spLocks noGrp="1"/>
          </p:cNvSpPr>
          <p:nvPr/>
        </p:nvSpPr>
        <p:spPr>
          <a:xfrm>
            <a:off x="10017919" y="5029200"/>
            <a:ext cx="300038" cy="21431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BE70FB3B-C33D-4175-B4E3-0E4E146030D6}"/>
              </a:ext>
            </a:extLst>
          </p:cNvPr>
          <p:cNvSpPr>
            <a:spLocks noGrp="1"/>
          </p:cNvSpPr>
          <p:nvPr/>
        </p:nvSpPr>
        <p:spPr>
          <a:xfrm>
            <a:off x="10317956" y="4729163"/>
            <a:ext cx="235744" cy="514350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D680AD19-3F06-486F-9720-FD1A5B9A75F5}"/>
              </a:ext>
            </a:extLst>
          </p:cNvPr>
          <p:cNvSpPr>
            <a:spLocks noGrp="1"/>
          </p:cNvSpPr>
          <p:nvPr/>
        </p:nvSpPr>
        <p:spPr>
          <a:xfrm>
            <a:off x="9503569" y="5029200"/>
            <a:ext cx="514350" cy="150019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E111DAD7-8EC3-4369-A188-E2EBA17F4940}"/>
              </a:ext>
            </a:extLst>
          </p:cNvPr>
          <p:cNvSpPr>
            <a:spLocks noGrp="1"/>
          </p:cNvSpPr>
          <p:nvPr/>
        </p:nvSpPr>
        <p:spPr>
          <a:xfrm>
            <a:off x="10017919" y="4729163"/>
            <a:ext cx="535781" cy="300038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1B953BF6-CF70-4C67-9157-CF4BB974FEE2}"/>
              </a:ext>
            </a:extLst>
          </p:cNvPr>
          <p:cNvSpPr>
            <a:spLocks noGrp="1"/>
          </p:cNvSpPr>
          <p:nvPr/>
        </p:nvSpPr>
        <p:spPr>
          <a:xfrm>
            <a:off x="9910763" y="4643438"/>
            <a:ext cx="107156" cy="385763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B1537C94-DF08-45E3-B96C-E95DE3C85547}"/>
              </a:ext>
            </a:extLst>
          </p:cNvPr>
          <p:cNvSpPr>
            <a:spLocks noGrp="1"/>
          </p:cNvSpPr>
          <p:nvPr/>
        </p:nvSpPr>
        <p:spPr>
          <a:xfrm>
            <a:off x="9567863" y="4750594"/>
            <a:ext cx="450056" cy="278606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DEDE480C-E1C6-411B-9CC2-9A8B85ACC679}"/>
              </a:ext>
            </a:extLst>
          </p:cNvPr>
          <p:cNvSpPr>
            <a:spLocks noGrp="1"/>
          </p:cNvSpPr>
          <p:nvPr/>
        </p:nvSpPr>
        <p:spPr>
          <a:xfrm>
            <a:off x="9567863" y="4643438"/>
            <a:ext cx="342900" cy="107156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24FA27C1-A403-4CA1-B3A6-B54C253D21C0}"/>
              </a:ext>
            </a:extLst>
          </p:cNvPr>
          <p:cNvSpPr>
            <a:spLocks noGrp="1"/>
          </p:cNvSpPr>
          <p:nvPr/>
        </p:nvSpPr>
        <p:spPr>
          <a:xfrm>
            <a:off x="9782175" y="4643438"/>
            <a:ext cx="128588" cy="835819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01E7F577-CF2E-491D-B0B2-02DE5E7B6A40}"/>
              </a:ext>
            </a:extLst>
          </p:cNvPr>
          <p:cNvSpPr>
            <a:spLocks noGrp="1"/>
          </p:cNvSpPr>
          <p:nvPr/>
        </p:nvSpPr>
        <p:spPr>
          <a:xfrm>
            <a:off x="9224963" y="5029200"/>
            <a:ext cx="792956" cy="428625"/>
          </a:xfrm>
          <a:prstGeom prst="line">
            <a:avLst/>
          </a:prstGeom>
          <a:noFill/>
          <a:ln w="20003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2EF1DD3-776F-499C-A061-F564F491A9A1}"/>
              </a:ext>
            </a:extLst>
          </p:cNvPr>
          <p:cNvSpPr>
            <a:spLocks noGrp="1"/>
          </p:cNvSpPr>
          <p:nvPr/>
        </p:nvSpPr>
        <p:spPr>
          <a:xfrm>
            <a:off x="9199245" y="5432108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C6C49A6-09B2-4826-84BB-F891C07B28C3}"/>
              </a:ext>
            </a:extLst>
          </p:cNvPr>
          <p:cNvSpPr>
            <a:spLocks noGrp="1"/>
          </p:cNvSpPr>
          <p:nvPr/>
        </p:nvSpPr>
        <p:spPr>
          <a:xfrm>
            <a:off x="9477851" y="5153501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1FDCCA9-D134-4168-A5D0-772CE311E900}"/>
              </a:ext>
            </a:extLst>
          </p:cNvPr>
          <p:cNvSpPr>
            <a:spLocks noGrp="1"/>
          </p:cNvSpPr>
          <p:nvPr/>
        </p:nvSpPr>
        <p:spPr>
          <a:xfrm>
            <a:off x="9756458" y="5453539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5A24C4C-D1BC-4FA9-B9D9-626FC02DBE17}"/>
              </a:ext>
            </a:extLst>
          </p:cNvPr>
          <p:cNvSpPr>
            <a:spLocks noGrp="1"/>
          </p:cNvSpPr>
          <p:nvPr/>
        </p:nvSpPr>
        <p:spPr>
          <a:xfrm>
            <a:off x="9992201" y="5003483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8942A5B-CC96-47BE-99E4-743D84EFA531}"/>
              </a:ext>
            </a:extLst>
          </p:cNvPr>
          <p:cNvSpPr>
            <a:spLocks noGrp="1"/>
          </p:cNvSpPr>
          <p:nvPr/>
        </p:nvSpPr>
        <p:spPr>
          <a:xfrm>
            <a:off x="10292239" y="5217795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0B4C97-0255-412A-AC26-EF57CA50B8DB}"/>
              </a:ext>
            </a:extLst>
          </p:cNvPr>
          <p:cNvSpPr>
            <a:spLocks noGrp="1"/>
          </p:cNvSpPr>
          <p:nvPr/>
        </p:nvSpPr>
        <p:spPr>
          <a:xfrm>
            <a:off x="10527983" y="4703445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7EC7EF8-BAAF-46B8-93BD-8488F5D800E6}"/>
              </a:ext>
            </a:extLst>
          </p:cNvPr>
          <p:cNvSpPr>
            <a:spLocks noGrp="1"/>
          </p:cNvSpPr>
          <p:nvPr/>
        </p:nvSpPr>
        <p:spPr>
          <a:xfrm>
            <a:off x="9885045" y="4617720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91EDD0C-2B39-4A31-91B3-4CE4027C6A37}"/>
              </a:ext>
            </a:extLst>
          </p:cNvPr>
          <p:cNvSpPr>
            <a:spLocks noGrp="1"/>
          </p:cNvSpPr>
          <p:nvPr/>
        </p:nvSpPr>
        <p:spPr>
          <a:xfrm>
            <a:off x="9542145" y="4724876"/>
            <a:ext cx="51435" cy="51435"/>
          </a:xfrm>
          <a:prstGeom prst="ellipse">
            <a:avLst/>
          </a:prstGeom>
          <a:solidFill>
            <a:srgbClr val="172A63"/>
          </a:solidFill>
          <a:ln w="0">
            <a:solidFill>
              <a:srgbClr val="172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06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650</Words>
  <Application>Microsoft Office PowerPoint</Application>
  <DocSecurity>0</DocSecurity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Trang Bui</cp:lastModifiedBy>
  <cp:revision>3</cp:revision>
  <dcterms:created xsi:type="dcterms:W3CDTF">2026-07-20T06:32:34Z</dcterms:created>
  <dcterms:modified xsi:type="dcterms:W3CDTF">2026-07-20T07:26:05Z</dcterms:modified>
</cp:coreProperties>
</file>