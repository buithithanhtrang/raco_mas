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1d1b69ba244072" /><Relationship Type="http://schemas.openxmlformats.org/officeDocument/2006/relationships/extended-properties" Target="/docProps/app.xml" Id="Rb985f4ee6edc4627" /><Relationship Type="http://schemas.openxmlformats.org/officeDocument/2006/relationships/officeDocument" Target="/ppt/presentation.xml" Id="R962734c466164f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dd81f1b744139"/>
  </p:sldMasterIdLst>
  <p:notesMasterIdLst>
    <p:notesMasterId xmlns:r="http://schemas.openxmlformats.org/officeDocument/2006/relationships" r:id="R4f7afe03f77148f9"/>
  </p:notesMasterIdLst>
  <p:sldIdLst>
    <p:sldId xmlns:r="http://schemas.openxmlformats.org/officeDocument/2006/relationships" id="256" r:id="R62f722eead994274"/>
    <p:sldId xmlns:r="http://schemas.openxmlformats.org/officeDocument/2006/relationships" id="257" r:id="R1f481a33656f4c10"/>
    <p:sldId xmlns:r="http://schemas.openxmlformats.org/officeDocument/2006/relationships" id="258" r:id="R312b68e075aa41e8"/>
    <p:sldId xmlns:r="http://schemas.openxmlformats.org/officeDocument/2006/relationships" id="259" r:id="R2bed7596e64e422b"/>
    <p:sldId xmlns:r="http://schemas.openxmlformats.org/officeDocument/2006/relationships" id="260" r:id="Re77b5f3e873f4aa5"/>
    <p:sldId xmlns:r="http://schemas.openxmlformats.org/officeDocument/2006/relationships" id="261" r:id="R757d7944da9f4c79"/>
    <p:sldId xmlns:r="http://schemas.openxmlformats.org/officeDocument/2006/relationships" id="262" r:id="R771e768b1d304a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27e663e734b1e" /><Relationship Type="http://schemas.openxmlformats.org/officeDocument/2006/relationships/slideMaster" Target="/ppt/slideMasters/slideMaster1.xml" Id="R2d7dd81f1b744139" /><Relationship Type="http://schemas.openxmlformats.org/officeDocument/2006/relationships/notesMaster" Target="/ppt/notesMasters/notesMaster1.xml" Id="R4f7afe03f77148f9" /><Relationship Type="http://schemas.openxmlformats.org/officeDocument/2006/relationships/presProps" Target="/ppt/presProps.xml" Id="Rc294a5ca4dfc41ec" /><Relationship Type="http://schemas.openxmlformats.org/officeDocument/2006/relationships/tableStyles" Target="/ppt/tableStyles.xml" Id="R7054305cc4df40c7" /><Relationship Type="http://schemas.openxmlformats.org/officeDocument/2006/relationships/slide" Target="/ppt/slides/slide1.xml" Id="R62f722eead994274" /><Relationship Type="http://schemas.openxmlformats.org/officeDocument/2006/relationships/slide" Target="/ppt/slides/slide2.xml" Id="R1f481a33656f4c10" /><Relationship Type="http://schemas.openxmlformats.org/officeDocument/2006/relationships/slide" Target="/ppt/slides/slide3.xml" Id="R312b68e075aa41e8" /><Relationship Type="http://schemas.openxmlformats.org/officeDocument/2006/relationships/slide" Target="/ppt/slides/slide4.xml" Id="R2bed7596e64e422b" /><Relationship Type="http://schemas.openxmlformats.org/officeDocument/2006/relationships/slide" Target="/ppt/slides/slide5.xml" Id="Re77b5f3e873f4aa5" /><Relationship Type="http://schemas.openxmlformats.org/officeDocument/2006/relationships/slide" Target="/ppt/slides/slide6.xml" Id="R757d7944da9f4c79" /><Relationship Type="http://schemas.openxmlformats.org/officeDocument/2006/relationships/slide" Target="/ppt/slides/slide7.xml" Id="R771e768b1d30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691fa3516340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fd039bf6f49ca" /><Relationship Type="http://schemas.openxmlformats.org/officeDocument/2006/relationships/notesMaster" Target="/ppt/notesMasters/notesMaster1.xml" Id="R3627d754d5f64a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356c4095d4f05" /><Relationship Type="http://schemas.openxmlformats.org/officeDocument/2006/relationships/notesMaster" Target="/ppt/notesMasters/notesMaster1.xml" Id="Ra906cbd046de44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d0a77c98664291" /><Relationship Type="http://schemas.openxmlformats.org/officeDocument/2006/relationships/notesMaster" Target="/ppt/notesMasters/notesMaster1.xml" Id="R7b636f7260d0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005ab8ea848d9" /><Relationship Type="http://schemas.openxmlformats.org/officeDocument/2006/relationships/notesMaster" Target="/ppt/notesMasters/notesMaster1.xml" Id="Reefb5cec060f44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18af0e75574d63" /><Relationship Type="http://schemas.openxmlformats.org/officeDocument/2006/relationships/notesMaster" Target="/ppt/notesMasters/notesMaster1.xml" Id="R9d1af8f3810a4e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206b4f6aa74d1c" /><Relationship Type="http://schemas.openxmlformats.org/officeDocument/2006/relationships/notesMaster" Target="/ppt/notesMasters/notesMaster1.xml" Id="R63bb7a9099df42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fd86b078584998" /><Relationship Type="http://schemas.openxmlformats.org/officeDocument/2006/relationships/notesMaster" Target="/ppt/notesMasters/notesMaster1.xml" Id="Rc284a0aae0ce42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136c4c0f24f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8a785e36b74e5f" /><Relationship Type="http://schemas.openxmlformats.org/officeDocument/2006/relationships/slideLayout" Target="/ppt/slideLayouts/slideLayout1.xml" Id="Rb92ce3432809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ce3432809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1e897206c47a1" /><Relationship Type="http://schemas.openxmlformats.org/officeDocument/2006/relationships/notesSlide" Target="/ppt/notesSlides/notesSlide1.xml" Id="Rce839c608f3445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0dacb036d4ad0" /><Relationship Type="http://schemas.openxmlformats.org/officeDocument/2006/relationships/notesSlide" Target="/ppt/notesSlides/notesSlide2.xml" Id="R27c9198a1fff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99aef44ec48c7" /><Relationship Type="http://schemas.openxmlformats.org/officeDocument/2006/relationships/notesSlide" Target="/ppt/notesSlides/notesSlide3.xml" Id="R5337daa8783a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4e6868c9a401b" /><Relationship Type="http://schemas.openxmlformats.org/officeDocument/2006/relationships/notesSlide" Target="/ppt/notesSlides/notesSlide4.xml" Id="Rf19365f7814847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9717c943f48e1" /><Relationship Type="http://schemas.openxmlformats.org/officeDocument/2006/relationships/image" Target="/ppt/media/image.png" Id="Rb957ceb3655142ef" /><Relationship Type="http://schemas.openxmlformats.org/officeDocument/2006/relationships/notesSlide" Target="/ppt/notesSlides/notesSlide5.xml" Id="Re2642c287f64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ff71d68dd4bcb" /><Relationship Type="http://schemas.openxmlformats.org/officeDocument/2006/relationships/notesSlide" Target="/ppt/notesSlides/notesSlide6.xml" Id="R42524f89d29d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73f19552a49d9" /><Relationship Type="http://schemas.openxmlformats.org/officeDocument/2006/relationships/notesSlide" Target="/ppt/notesSlides/notesSlide7.xml" Id="Ra0056b2b3368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26C164-F8DC-4AD8-98F6-223129D7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Báo cáo tiến độ</a:t>
            </a:r>
          </a:p>
          <a:p xmlns:a="http://schemas.openxmlformats.org/drawingml/2006/main">
            <a:pPr algn="l">
              <a:def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Puppeteer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0458E-12CB-41AE-A33D-1C3D6D6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Reproduce GSM-Hard và hướng cải thiện</a:t>
            </a:r>
          </a:p>
          <a:p xmlns:a="http://schemas.openxmlformats.org/drawingml/2006/main">
            <a:pPr algn="l">
              <a:defRPr sz="23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Combinatorial Generalization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B0C61-31C3-46B8-80A5-F01C542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Dựa trên Dang et al. (2025) &amp; Mahajan et al. (2022)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005D3-0F20-40C0-9564-B484024A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183DF-4804-404D-958E-B5DA630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A7D4-D85B-4795-85AD-C80249FD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6776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082FF-AF31-4B69-BBF9-644ABC5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2776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11758-B1EC-49C1-AAD6-90D9771D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0552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A112C-DE73-4617-A4C1-770CD06D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552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AE6A8-407E-414B-9523-7004006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4328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10502-F0B8-4C7E-8E29-013D5BB2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328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42DE9-E730-4469-90DE-5752DE57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8104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EF0E0-BCEA-4058-B50B-30BA6A2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04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0FFCF-2FF2-467F-9864-18495AB2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1880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48C37-EF21-4347-9D2F-DC407EC5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880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3CE41-348A-4A3B-9924-210CF83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656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50173-1011-4F76-88AE-D48FF46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656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E7C66-5888-4DA7-BA66-7085EA07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9432"/>
            <a:ext cx="3703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A0C94-10D3-494A-9C80-758435E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432" y="114300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D04B4-7B8A-43C9-BBD6-165DE56E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560445"/>
            <a:ext cx="668655" cy="668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E377D-C279-4AA7-A6AF-3411A0D4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65" y="3560445"/>
            <a:ext cx="668655" cy="7200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CB9D1-BFB4-465C-9521-D1030AC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200400"/>
            <a:ext cx="565785" cy="10801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05418-034F-488C-B4EE-572A9A12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3200400"/>
            <a:ext cx="72009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79F4D-56D6-4323-8085-6711D39A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795" y="2480310"/>
            <a:ext cx="565785" cy="1234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CFC6C-5CDE-45BF-A83D-9919587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65" y="3200400"/>
            <a:ext cx="1234440" cy="360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11B5A-4541-4ED9-81BD-32096C2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2480310"/>
            <a:ext cx="1285875" cy="7200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0CD61-86FE-4512-AE92-EC65B83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530" y="2274570"/>
            <a:ext cx="257175" cy="9258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68D2F-EE1D-420B-A181-9154B5E5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70" y="2531745"/>
            <a:ext cx="1080135" cy="668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3244A-A61F-431F-A606-143E567B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70" y="2274570"/>
            <a:ext cx="82296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2B65FC-1ACD-48DC-AB6C-6E895B9F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2274570"/>
            <a:ext cx="308610" cy="20059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13315-8B72-4DD3-B43D-2CE6439A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3200400"/>
            <a:ext cx="190309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9DFFF2-269B-46E9-9341-B8F65AC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888" y="4167378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C18FD4-7813-4B2F-962F-FBD2B3E5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543" y="3498723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C93E53-A32E-4DF1-958F-64948820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198" y="4218813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C457A-A161-42D4-AC4C-5C6B7D28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83" y="3138678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D5F80-F54F-491C-BBF2-52A80E84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073" y="3653028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1F9EEA-8B71-433D-B921-1341B1F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858" y="2418588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D5AB49-61EF-4E6D-BE4E-2E8A4AD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808" y="2212848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585FFF-977B-4F4A-9356-731E929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848" y="2470023"/>
            <a:ext cx="123444" cy="123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3759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88CA30-D25B-4AF5-AE18-D1A3B70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Pipeline đã chạy được, nhưng mới ở quy mô nhỏ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1C2C4-87ED-4DAC-8500-B51FC87D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Mục tiêu hiện tại: xác nhận reproduce loop trước khi mở rộng bằng A100.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3DAF7-8574-4B4A-A323-BD4D3A5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DC2F8-A558-4032-96FD-16A43585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334B0-BDD7-4646-8A8D-542C3D74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9D46C-243C-47FE-9B8B-962DE75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D51FC-04AB-4FD2-8500-757C6BC1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sample GSM-Hard đã train thử nghiệm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5CA99-D562-42B6-945F-5C873FB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9CC69-48CF-434E-82C0-D3EED96B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77182-807A-4232-9F0E-0DA53F40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sample đã test lại trên checkpoint vừa 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F5FA5-AF90-4287-85CA-161A19C6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26F8D-EFE9-4767-AF4A-BA6D80C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812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4EE3B-F61E-460D-B0B3-8C7A3A39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accuracy tăng trên tập train/test nội bộ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55422-145D-49F2-9063-DC5100B6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E3DE4-A08C-4972-BA66-A914B266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A100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4B2DE-8E4D-4A93-8BE2-F5601C6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đang xin tài nguyên để mở rộng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8EC43-E34C-41A2-B180-DDFD3E5C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62944-D244-4A60-A63A-FCDCC0FC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Training loop, logging, checkpoint và embedding-based state representation đã hoạt động.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54C9A-A79E-42FF-AD83-2002BCC9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C184B-EAEB-4B51-A694-C8536F48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Token cost chưa được thống kê đầy đủ, nên kết luận hiện tại mới là tín hiệu ban đầu.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ABAF4-C0F4-4A94-893D-4FB4793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D514A-0C7B-4ECD-9513-92AF81B9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Bước kế tiếp là reproduce trên nhiều sample hơn và kiểm tra cost/agent-count.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18000-03BE-4CD4-87BB-2022395E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71900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B8339-9EE9-4037-8D02-90053E7F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8D818-ADD8-4059-A507-70338A7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63924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863688-4BAB-4006-804B-E107FA4A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399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1A69B-A8C5-4BB6-954C-59098E3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55948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79AFD-1D8F-4EDB-8E7F-AF0B36F3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423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6F4CA-C482-47A6-BC29-D33ED40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347972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E415B-B8D3-4219-A8E8-6356A7D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447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CC2E6-1123-4232-AC6C-C9C7569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39996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52046D-2A4E-42D0-8315-E241C378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471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55A95-4C41-4318-8C13-A2230C9C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32020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6D0D7C-8B98-40AE-A1A7-BE47E2E5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495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47A8C7-F315-4F1C-A0E2-96305322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24044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B1A94A-A827-44FE-A0F7-07B2601F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519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20E038-34F9-49D8-92AE-BA016370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16068"/>
            <a:ext cx="1440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33E253-653C-4DBE-B850-BFBAD7A0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543" y="3771900"/>
            <a:ext cx="0" cy="144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1A53E1-5937-48B9-B301-CC29070C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90" y="4712018"/>
            <a:ext cx="260033" cy="2600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8D6F03-F3A6-4512-B7AD-41DCC0E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4712018"/>
            <a:ext cx="260032" cy="280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4CDC1C-FCDF-4345-98B2-B74E8FB8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455" y="4572000"/>
            <a:ext cx="220027" cy="420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BE7F5-DA94-4932-9A96-4BCA4E2A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483" y="4572000"/>
            <a:ext cx="28003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29EA1A-F85A-4E1C-A1AD-89A1E592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518" y="4291965"/>
            <a:ext cx="220027" cy="4800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AC3DA-4D98-4562-BC2C-7001554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4572000"/>
            <a:ext cx="480060" cy="140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3C94A4-5E18-41AA-8CB7-57B1AE0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483" y="4291965"/>
            <a:ext cx="500063" cy="280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7E7C96-5B4B-490E-876B-772F6A56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470" y="4211955"/>
            <a:ext cx="100013" cy="360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F9B9F6-57D1-46A8-AD4F-788F057C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430" y="4311968"/>
            <a:ext cx="420052" cy="2600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FF5007-9559-4CAD-8806-9A74EF1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430" y="4211955"/>
            <a:ext cx="320040" cy="100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FB6431-0A1D-4D74-8AE2-FB598B1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455" y="4211955"/>
            <a:ext cx="120015" cy="78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CB6102-B809-4DB5-8EEE-97B3FF51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90" y="4572000"/>
            <a:ext cx="74009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7D784A-042F-44FC-BA2F-F7DDC289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387" y="4948047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30F0CB-2B5B-4975-9BC7-1D0CC3A6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420" y="4688015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9892A6-F44E-4ADF-ABAD-0216AAE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4452" y="4968050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3C98D7-A430-4DDC-BBDF-F4C520A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80" y="4547997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E9455F-A6C0-41C2-AD8B-BD2A19A0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515" y="4748022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7669B6-B97C-48A7-983E-6D48CC71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542" y="4267962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763E39-3AFF-454E-9686-052E5CA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467" y="4187952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32F687-4F13-4777-8A1A-9D0E6663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427" y="4287965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9844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2FB94-7056-43A1-A68B-04E4D54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Bản reproduce hiện tại có ba khác biệt chính so với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775A0-D32F-4D37-8D82-E8E15BA0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Các thay đổi này giúp chạy được trong điều kiện hiện tại, nhưng cần ghi rõ khi so sánh.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CFFEC-E3DA-4DFB-9403-FA0C59B7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63278-3972-4347-8321-BCFD3EC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2468880"/>
                <a:gridCol w="3108960"/>
                <a:gridCol w="3108960"/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A63"/>
                          </a:solidFill>
                        </a:rPr>
                        <a:t>Thành phần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A63"/>
                          </a:solidFill>
                        </a:rPr>
                        <a:t>Paper gốc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A63"/>
                          </a:solidFill>
                        </a:rPr>
                        <a:t>Thiết lập hiện tại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A63"/>
                          </a:solidFill>
                        </a:rPr>
                        <a:t>Ý nghĩa khi so sánh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State / reward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Reward model lớn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Embedding API hoặc reward model nhỏ hơn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Dễ chạy hơn, nhưng không tương đương hoàn toàn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Agent pool và LLM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Mimas/Titan theo paper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Gemini/Gemma + agent pool rút gọn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Action space và capability distribution đã thay đổi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Quy mô 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Benchmark lớn hơn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38 sample GSM-Hard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3B37"/>
                          </a:solidFill>
                        </a:rPr>
                        <a:t>Mới là sanity check cho pipeline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0DBB6-9A7A-4C59-A722-BA45D41C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Takeaway: kết quả hiện tại nên được trình bày là reproduce có điều chỉnh, không phải replication hoàn toàn setup gốc.</a:t>
            </a:r>
          </a:p>
        </p:txBody>
      </p:sp>
    </p:spTree>
    <p:extLst>
      <p:ext uri="{BB962C8B-B14F-4D97-AF65-F5344CB8AC3E}">
        <p14:creationId xmlns:p14="http://schemas.microsoft.com/office/powerpoint/2010/main" val="82752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6100D-6F8F-4C60-A75B-5D72B47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Kết quả reproduce và mapping agent–LLM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198A5-6FD7-4FF1-B273-85BD72CD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Checkpoint train trên 38 sample cải thiện accuracy; cấu hình LLM hiện tại khác paper gốc.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EA4F3-10E7-42DC-A4A1-E1AA692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0D2F-B52F-4000-AAAA-8B60A0C1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9F099-B923-487D-BFFF-D3D203F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Kết quả accuracy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847850"/>
          <a:ext xmlns:a="http://schemas.openxmlformats.org/drawingml/2006/main" cx="4572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25931"/>
                <a:gridCol w="721136"/>
                <a:gridCol w="519218"/>
                <a:gridCol w="519218"/>
                <a:gridCol w="612965"/>
                <a:gridCol w="973533"/>
              </a:tblGrid>
              <a:tr h="48985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A63"/>
                          </a:solidFill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A63"/>
                          </a:solidFill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A63"/>
                          </a:solidFill>
                        </a:rPr>
                        <a:t>#Train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A63"/>
                          </a:solidFill>
                        </a:rPr>
                        <a:t>#Eval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A63"/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A63"/>
                          </a:solidFill>
                        </a:rPr>
                        <a:t>Avg token cost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Paper - Puppeteer Mono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Init.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0.2467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Paper - Puppeteer Mono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Evolved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0.4800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Paper - Puppeteer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Init.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0.5600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Paper - Puppeteer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Evolved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0.5400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Reproduce hiện tại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Init.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Reproduce hiện tại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Checkpoint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0.56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B3B37"/>
                          </a:solidFill>
                        </a:rPr>
                        <a:t>[chưa kiểm tra]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0D49A-CC2D-42BB-8AC4-77D6AD2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Cần bổ sung token cost, số agent/path và evaluation trên sample chưa train.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37843-9458-485D-8793-D3B625B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4305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Mapping personas: paper gốc vs. cấu hình hiện tại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53050" y="1847850"/>
          <a:ext xmlns:a="http://schemas.openxmlformats.org/drawingml/2006/main" cx="6286500" cy="4191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0570"/>
                <a:gridCol w="2119866"/>
                <a:gridCol w="2266064"/>
              </a:tblGrid>
              <a:tr h="27940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A63"/>
                          </a:solidFill>
                        </a:rPr>
                        <a:t>Role / reasoning</a:t>
                      </a:r>
                    </a:p>
                    <a:p>
                      <a:r>
                        <a:rPr sz="788" b="1">
                          <a:solidFill>
                            <a:srgbClr val="172A63"/>
                          </a:solidFill>
                        </a:rPr>
                        <a:t>pattern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A63"/>
                          </a:solidFill>
                        </a:rPr>
                        <a:t>LLM Mimas</a:t>
                      </a:r>
                    </a:p>
                    <a:p>
                      <a:r>
                        <a:rPr sz="788" b="1">
                          <a:solidFill>
                            <a:srgbClr val="172A63"/>
                          </a:solidFill>
                        </a:rPr>
                        <a:t>(paper gốc)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A63"/>
                          </a:solidFill>
                        </a:rPr>
                        <a:t>LLM hiện tại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FileAgent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qwen-2.5-7b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ArxivAgent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qwen-2.5-14b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BingAgent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llama-3.1-8b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WebsiteAgent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llama-3.2-3b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PythonAgent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mistralai/ministral-3b-2512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mistralai/ministral-3b-2513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PlannerAgent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ReasoningAgent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qwen-2.5-14b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CriticAgent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llama-3.1-8b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ReflectAgent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mistral-nemo-12b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QuestionAgent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llama-3.2-3b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SummarizerAgent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qwen-2.5-7b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ConcluderAgent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mistralai/ministral-3b-2512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mistralai/ministral-3b-2513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ModifierAgent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qwen-2.5-14b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gemma-4-26b-a4b-it</a:t>
                      </a:r>
                    </a:p>
                  </a:txBody>
                  <a:tcPr marL="91440" marR="91440" marT="45720" marB="45720"/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TerminatorAgent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llama-3.1-8b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3B3B37"/>
                          </a:solidFill>
                        </a:rPr>
                        <a:t>gemini-3.1-flash-lite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380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D5C39-B8B6-4C4D-A04B-BC1DAF16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Ba điểm yếu hiện tại đều làm giảm khả năng generalize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F83F6-E3CD-463C-913A-29D9B13E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Sơ đồ từ báo cáo: state embedding vẫn đi vào MLP fixed slots và termination chưa tận dụng answer hợp lệ.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67FE6-6593-49CA-B3B7-233C782B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5F57D-D6DE-40FC-9376-6BE9404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7ceb3655142ef"/>
          <a:stretch xmlns:a="http://schemas.openxmlformats.org/drawingml/2006/main"/>
        </p:blipFill>
        <p:spPr>
          <a:xfrm xmlns:a="http://schemas.openxmlformats.org/drawingml/2006/main">
            <a:off x="1862667" y="1428750"/>
            <a:ext cx="8466667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965058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DCFCF-6F71-4A34-B2EA-22FDAFA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Hướng cải thiện: bỏ phụ thuộc vào fixed agent slots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587DD-1F32-430F-9F5D-8E5388C6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Mục tiêu là giữ tinh thần Puppeteer nhưng làm policy thích nghi với agent pool thay đổi.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9F8C-ED0F-4C4E-AB85-B2BA012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9A05A-E168-428C-A6E9-FBAD7FAA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52450" y="1543050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97095"/>
                <a:gridCol w="5293841"/>
                <a:gridCol w="3296165"/>
              </a:tblGrid>
              <a:tr h="800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A63"/>
                          </a:solidFill>
                        </a:rPr>
                        <a:t>Hướng cải thiện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A63"/>
                          </a:solidFill>
                        </a:rPr>
                        <a:t>Ý tưởng kỹ thuật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A63"/>
                          </a:solidFill>
                        </a:rPr>
                        <a:t>Kỳ vọng đánh giá</a:t>
                      </a:r>
                    </a:p>
                  </a:txBody>
                  <a:tcPr marL="91440" marR="91440" marT="45720" marB="45720">
                    <a:solidFill>
                      <a:srgbClr val="EFE5D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Capability-aware orchestrator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Scorer f(state, agent_embedding); embedding mã hóa role, model, tools, cost, lịch sử hiệu quả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Thêm/xóa/thay agent không cần đổi output_dim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Permutation-invariant encoder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Aggregate agent pool như một tập bằng attention / DeepSets / GNN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Ổn định khi shuffle personas hoặc đổi team size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Early-stop / answer 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Verifier cho answer hợp lệ trước khi gọi agent tiếp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Giảm token cost và số step/path</a:t>
                      </a:r>
                    </a:p>
                  </a:txBody>
                  <a:tcPr marL="91440" marR="91440" marT="45720" marB="45720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MAS-aware prompts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Prompt nêu agent pool, ranh giới role và output schema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3B3B37"/>
                          </a:solidFill>
                        </a:rPr>
                        <a:t>Tăng specialization, giảm duplicated reasoning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FCAF4-0068-4302-8DB9-A5373172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Ưu tiên triển khai: capability-aware scorer + permutation-invariant agent encoder.</a:t>
            </a:r>
          </a:p>
        </p:txBody>
      </p:sp>
    </p:spTree>
    <p:extLst>
      <p:ext uri="{BB962C8B-B14F-4D97-AF65-F5344CB8AC3E}">
        <p14:creationId xmlns:p14="http://schemas.microsoft.com/office/powerpoint/2010/main" val="1849157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B70DFB-A870-4537-AA30-5143F17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Bước tiếp theo nên chuyển từ accuracy sang generalization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3BCA7-CA8B-4251-9B62-AC272EE5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Khoảng trống: benchmark CG hiện chủ yếu dùng game; reasoning benchmark kiểu Dang et al. còn ít protocol rõ ràng.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D4CB7-C348-40BD-AA0E-8DD4E7C3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6A63"/>
                </a:solidFill>
                <a:latin typeface="Aptos"/>
                <a:ea typeface="Aptos"/>
                <a:cs typeface="Aptos"/>
              </a:rPr>
              <a:t>Puppeteer reproduce Â· GSM-Hard Â· Generalization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59630-960C-41AE-A149-4443BDF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72A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A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FA0EA-53DF-4B17-AEEE-AD3500C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9A365-8D41-4993-B979-C440548E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Seen composition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0AD12-BDB0-40AC-8153-EA897F21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So sánh với baseline Puppeteer trên agent pool cố định.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643D4-E2FE-4CCE-83C8-3DD80FE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50AD7-0A06-4796-884E-89AC5C1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Shuffle personas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4FEE0-2162-498A-871A-EF5BE98F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Kiểm tra policy có phụ thuộc thứ tự index không.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B6DF7-99D3-4A20-B32B-1C1AC59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A23C8-E4BE-4420-AFC1-D349DCE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Leave-one-agent-out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566A8-FD84-4B79-A454-90D73AE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Train thiếu một role/model, test khi thêm lại.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118B0-0193-4704-BD03-1FE2065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C8BD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58220-2639-4938-BD23-D1DF33A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2A63"/>
                </a:solidFill>
                <a:latin typeface="Times New Roman"/>
                <a:ea typeface="Times New Roman"/>
                <a:cs typeface="Times New Roman"/>
              </a:rPr>
              <a:t>Add / substitute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95F89-6832-4D0D-9D10-867178F3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Thêm model mới hoặc thay LLM của một role.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32A1A-A9D9-4EDF-8E28-4A632E3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3B3B37"/>
                </a:solidFill>
                <a:latin typeface="Times New Roman"/>
                <a:ea typeface="Times New Roman"/>
                <a:cs typeface="Times New Roman"/>
              </a:rPr>
              <a:t>Metrics cần báo cáo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EE540-FA37-43DF-B0F5-DD0F5E42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F27FC-FF6C-45BD-B3F1-5F877B34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81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Accuracy và generalization gap giữa seen vs. unseen composition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C64F8-E4A6-4268-B8ED-70E372C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BC6DB-7F29-4EF8-80DA-69358E98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768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3B3B37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3B3B37"/>
                </a:solidFill>
                <a:latin typeface="Aptos"/>
                <a:ea typeface="Aptos"/>
                <a:cs typeface="Aptos"/>
              </a:rPr>
              <a:t>Avg token cost, số step/path, số agent trung bình và early-stop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7915C-3052-4B1F-92EF-1C18058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A8EA6-FC26-48C2-A7B4-FB5A485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5C776-E380-43EA-AD4E-60C5662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7769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D45B0-2030-4E78-A9EA-80725D2C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F45C3-1824-40B5-9347-0F818224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8343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41006-6E6D-4AD4-8422-9E0F9C8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85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8F3BE-3648-4966-B206-B6BF2F90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8917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10566-4382-4990-8189-A95E7A4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3FEFA-7676-44F9-8C4E-3C36D934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9491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82C88-5AD4-4B11-8B71-35D24E90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3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000AE8-04C6-4905-8355-FE2CD9C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006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38F0F-2E9B-48B7-997E-E3C4AA0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DA4726-7385-419D-8B4B-63E98153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0639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E86132-25B3-4C26-9284-02DC0EF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99576-B562-4A1F-A60A-BDC2BB1F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213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35C1C-4079-4E89-999A-EBDE7E5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555" y="417195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7B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010D83-18B4-4AF4-9399-D992923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5179219"/>
            <a:ext cx="278606" cy="278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77C2AF-255C-47C1-BA87-CB06BFF0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9" y="5179219"/>
            <a:ext cx="278606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AD37FA-CFE3-4613-9807-EB68430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029200"/>
            <a:ext cx="235744" cy="450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EAE519-87EC-46C8-A9A4-FB34453E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919" y="5029200"/>
            <a:ext cx="300038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CF6FFA-7CC1-41CF-BB8F-A3F0CCCC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56" y="4729163"/>
            <a:ext cx="235744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EAF276-6C6E-4022-BEBE-1BCB4F6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9" y="5029200"/>
            <a:ext cx="514350" cy="15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032F48-5452-4FB7-B543-520BE107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919" y="4729163"/>
            <a:ext cx="535781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102522-1875-4D52-8C67-77B9531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4643438"/>
            <a:ext cx="107156" cy="385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A4317-9586-41F8-920F-7708571F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4750594"/>
            <a:ext cx="450056" cy="278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3E4ABD-5BF7-41BC-A9AC-E86FD5CE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4643438"/>
            <a:ext cx="342900" cy="107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F38B18-A1E2-447B-A6B4-2B5E68B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643438"/>
            <a:ext cx="128588" cy="835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FF320B-8AD6-4987-A1DD-3092339F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5029200"/>
            <a:ext cx="792956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172A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168882-54EE-4A47-BEA9-2399D867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54321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0A68BF-FE3D-47DE-91D3-322DB15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851" y="5153501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AC3852-2B75-4BFA-8A09-692E227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5453539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EF7EA7-B1AD-4760-90D0-3778CCB8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201" y="500348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07DC34-C54C-4B48-A8CD-E3B3E8BF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239" y="5217795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C967BC-81C0-4599-999C-A0274B06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983" y="4703445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90C463-70FA-45C1-8DD7-7A7C6194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045" y="4617720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8DF339-D45F-4ABB-9175-2ED49FE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145" y="4724876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63"/>
          </a:solidFill>
          <a:ln xmlns:a="http://schemas.openxmlformats.org/drawingml/2006/main" w="0">
            <a:solidFill>
              <a:srgbClr val="172A6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3697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2026-07-20T06:51:14.3150000Z</dcterms:created>
  <dcterms:modified xsi:type="dcterms:W3CDTF">2026-07-20T06:51:14.3150000Z</dcterms:modified>
</coreProperties>
</file>